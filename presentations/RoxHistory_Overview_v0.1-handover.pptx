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2a2a1d7a7b494a" /><Relationship Type="http://schemas.openxmlformats.org/officeDocument/2006/relationships/extended-properties" Target="/docProps/app.xml" Id="R3fd2234e90434559" /><Relationship Type="http://schemas.openxmlformats.org/officeDocument/2006/relationships/officeDocument" Target="/ppt/presentation.xml" Id="Rfecb168b21d041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4e30f0efca4185"/>
  </p:sldMasterIdLst>
  <p:notesMasterIdLst>
    <p:notesMasterId xmlns:r="http://schemas.openxmlformats.org/officeDocument/2006/relationships" r:id="Rf903e5b8ece940b1"/>
  </p:notesMasterIdLst>
  <p:sldIdLst>
    <p:sldId xmlns:r="http://schemas.openxmlformats.org/officeDocument/2006/relationships" id="256" r:id="Rdf87899ae49a4b45"/>
    <p:sldId xmlns:r="http://schemas.openxmlformats.org/officeDocument/2006/relationships" id="257" r:id="R25cf824543204074"/>
    <p:sldId xmlns:r="http://schemas.openxmlformats.org/officeDocument/2006/relationships" id="258" r:id="Ree50e94af71f4c79"/>
    <p:sldId xmlns:r="http://schemas.openxmlformats.org/officeDocument/2006/relationships" id="259" r:id="R1a4cd78ed54d448d"/>
    <p:sldId xmlns:r="http://schemas.openxmlformats.org/officeDocument/2006/relationships" id="260" r:id="R903eb57ddc1148bd"/>
    <p:sldId xmlns:r="http://schemas.openxmlformats.org/officeDocument/2006/relationships" id="261" r:id="R6763af0e3693438a"/>
    <p:sldId xmlns:r="http://schemas.openxmlformats.org/officeDocument/2006/relationships" id="262" r:id="R4f97dc5592ac4531"/>
    <p:sldId xmlns:r="http://schemas.openxmlformats.org/officeDocument/2006/relationships" id="263" r:id="R93caf29778b54f20"/>
    <p:sldId xmlns:r="http://schemas.openxmlformats.org/officeDocument/2006/relationships" id="264" r:id="Racd8782cf2254ae4"/>
    <p:sldId xmlns:r="http://schemas.openxmlformats.org/officeDocument/2006/relationships" id="265" r:id="Ra76f9110bc3a44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fd4a5d2a1f4e9e" /><Relationship Type="http://schemas.openxmlformats.org/officeDocument/2006/relationships/slideMaster" Target="/ppt/slideMasters/slideMaster1.xml" Id="R054e30f0efca4185" /><Relationship Type="http://schemas.openxmlformats.org/officeDocument/2006/relationships/notesMaster" Target="/ppt/notesMasters/notesMaster1.xml" Id="Rf903e5b8ece940b1" /><Relationship Type="http://schemas.openxmlformats.org/officeDocument/2006/relationships/presProps" Target="/ppt/presProps.xml" Id="Rc26430a6cb9a4c67" /><Relationship Type="http://schemas.openxmlformats.org/officeDocument/2006/relationships/tableStyles" Target="/ppt/tableStyles.xml" Id="Ra8575de2beca4863" /><Relationship Type="http://schemas.openxmlformats.org/officeDocument/2006/relationships/slide" Target="/ppt/slides/slide1.xml" Id="Rdf87899ae49a4b45" /><Relationship Type="http://schemas.openxmlformats.org/officeDocument/2006/relationships/slide" Target="/ppt/slides/slide2.xml" Id="R25cf824543204074" /><Relationship Type="http://schemas.openxmlformats.org/officeDocument/2006/relationships/slide" Target="/ppt/slides/slide3.xml" Id="Ree50e94af71f4c79" /><Relationship Type="http://schemas.openxmlformats.org/officeDocument/2006/relationships/slide" Target="/ppt/slides/slide4.xml" Id="R1a4cd78ed54d448d" /><Relationship Type="http://schemas.openxmlformats.org/officeDocument/2006/relationships/slide" Target="/ppt/slides/slide5.xml" Id="R903eb57ddc1148bd" /><Relationship Type="http://schemas.openxmlformats.org/officeDocument/2006/relationships/slide" Target="/ppt/slides/slide6.xml" Id="R6763af0e3693438a" /><Relationship Type="http://schemas.openxmlformats.org/officeDocument/2006/relationships/slide" Target="/ppt/slides/slide7.xml" Id="R4f97dc5592ac4531" /><Relationship Type="http://schemas.openxmlformats.org/officeDocument/2006/relationships/slide" Target="/ppt/slides/slide8.xml" Id="R93caf29778b54f20" /><Relationship Type="http://schemas.openxmlformats.org/officeDocument/2006/relationships/slide" Target="/ppt/slides/slide9.xml" Id="Racd8782cf2254ae4" /><Relationship Type="http://schemas.openxmlformats.org/officeDocument/2006/relationships/slide" Target="/ppt/slides/slide10.xml" Id="Ra76f9110bc3a44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aefdc4975545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8739d164944ee9" /><Relationship Type="http://schemas.openxmlformats.org/officeDocument/2006/relationships/notesMaster" Target="/ppt/notesMasters/notesMaster1.xml" Id="R2d2c637c005740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b51f69e78c4663" /><Relationship Type="http://schemas.openxmlformats.org/officeDocument/2006/relationships/notesMaster" Target="/ppt/notesMasters/notesMaster1.xml" Id="Rac58b43f0c8f43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f42eedeec8420b" /><Relationship Type="http://schemas.openxmlformats.org/officeDocument/2006/relationships/notesMaster" Target="/ppt/notesMasters/notesMaster1.xml" Id="Re36441c8694241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68316b6fdb463e" /><Relationship Type="http://schemas.openxmlformats.org/officeDocument/2006/relationships/notesMaster" Target="/ppt/notesMasters/notesMaster1.xml" Id="R4aa2b7f8302e49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0d0a0348524203" /><Relationship Type="http://schemas.openxmlformats.org/officeDocument/2006/relationships/notesMaster" Target="/ppt/notesMasters/notesMaster1.xml" Id="R79e98a6065c046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ce3b4478e04921" /><Relationship Type="http://schemas.openxmlformats.org/officeDocument/2006/relationships/notesMaster" Target="/ppt/notesMasters/notesMaster1.xml" Id="Rfb9e980d237246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122b06417c4d2e" /><Relationship Type="http://schemas.openxmlformats.org/officeDocument/2006/relationships/notesMaster" Target="/ppt/notesMasters/notesMaster1.xml" Id="R186926e1757c4f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bc8c9f4a194133" /><Relationship Type="http://schemas.openxmlformats.org/officeDocument/2006/relationships/notesMaster" Target="/ppt/notesMasters/notesMaster1.xml" Id="R9153b7e0820e43b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e5f7d5acea4207" /><Relationship Type="http://schemas.openxmlformats.org/officeDocument/2006/relationships/notesMaster" Target="/ppt/notesMasters/notesMaster1.xml" Id="Rc9bce2d82c5e47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b0b24391d6e4bb0" /><Relationship Type="http://schemas.openxmlformats.org/officeDocument/2006/relationships/notesMaster" Target="/ppt/notesMasters/notesMaster1.xml" Id="Rf4392ea5e98e46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사용자 제공 RoxHistory 프로젝트 설계 인수인계 지시, 2026-10-28. 현재 기준 docs/synopsis-v0.1-handover.md. 이전 상세안은 보존하고 재확인 대상으로 구분한다.</a:t>
            </a:r>
          </a:p>
          <a:p xmlns:a="http://schemas.openxmlformats.org/drawingml/2006/main">
            <a:r>
              <a:t>지도 중심 역사 기반 게임이라는 확정 철학을 소개한다. 장르와 상세 게임 규칙은 미확정이다.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사용자 제공 RoxHistory 프로젝트 설계 인수인계 지시, 2026-10-28. 현재 기준 docs/synopsis-v0.1-handover.md. 이전 상세안은 보존하고 재확인 대상으로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사용자 제공 RoxHistory 프로젝트 설계 인수인계 지시, 2026-10-28. 현재 기준 docs/synopsis-v0.1-handover.md. 이전 상세안은 보존하고 재확인 대상으로 구분한다.</a:t>
            </a:r>
          </a:p>
          <a:p xmlns:a="http://schemas.openxmlformats.org/drawingml/2006/main">
            <a:r>
              <a:t>경험의 방향을 제시한다. 국가 운영·영토 확장·자원 관리·생존 RPG는 여기서 확정하지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사용자 제공 RoxHistory 프로젝트 설계 인수인계 지시, 2026-10-28. 현재 기준 docs/synopsis-v0.1-handover.md. 이전 상세안은 보존하고 재확인 대상으로 구분한다.</a:t>
            </a:r>
          </a:p>
          <a:p xmlns:a="http://schemas.openxmlformats.org/drawingml/2006/main">
            <a:r>
              <a:t>지도 도형 출처: Natural Earth ne_50m_land.geojson. https://github.com/nvkelso/natural-earth-vector/blob/master/geojson/ne_50m_land.geojson . 이용 조건 https://www.naturalearthdata.com/about/terms-of-use/ . 현대 육지 자료를 120~135E,32~44N으로 잘라 Mercator 투영했다. 역사적 경계나 선사시대 지형을 표현하지 않는다. 이 범위를 최종 게임 지리 범위로 확정하지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사용자 제공 RoxHistory 프로젝트 설계 인수인계 지시, 2026-10-28. 현재 기준 docs/synopsis-v0.1-handover.md. 이전 상세안은 보존하고 재확인 대상으로 구분한다.</a:t>
            </a:r>
          </a:p>
          <a:p xmlns:a="http://schemas.openxmlformats.org/drawingml/2006/main">
            <a:r>
              <a:t>사용자가 제시한 잠정 구분을 순서대로 표시했다. 고정 장 수, 시대 전환 사건이나 중간 역사 과정의 생략을 확정하지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사용자 제공 RoxHistory 프로젝트 설계 인수인계 지시, 2026-10-28. 현재 기준 docs/synopsis-v0.1-handover.md. 이전 상세안은 보존하고 재확인 대상으로 구분한다.</a:t>
            </a:r>
          </a:p>
          <a:p xmlns:a="http://schemas.openxmlformats.org/drawingml/2006/main">
            <a:r>
              <a:t>학습과 경험의 목표를 설명하는 편집 가능한 개념도다. 확정 게임 루프나 지도 클릭만으로 완성되는 게임이라는 뜻은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사용자 제공 RoxHistory 프로젝트 설계 인수인계 지시, 2026-10-28. 현재 기준 docs/synopsis-v0.1-handover.md. 이전 상세안은 보존하고 재확인 대상으로 구분한다.</a:t>
            </a:r>
          </a:p>
          <a:p xmlns:a="http://schemas.openxmlformats.org/drawingml/2006/main">
            <a:r>
              <a:t>교육적 설계 목표다. 학습 효과를 실증한 결과가 아니다. 상세 정보 열람 방식과 플레이 조작은 미확정이다.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사용자 제공 RoxHistory 프로젝트 설계 인수인계 지시, 2026-10-28. 현재 기준 docs/synopsis-v0.1-handover.md. 이전 상세안은 보존하고 재확인 대상으로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사용자 제공 RoxHistory 프로젝트 설계 인수인계 지시, 2026-10-28. 현재 기준 docs/synopsis-v0.1-handover.md. 이전 상세안은 보존하고 재확인 대상으로 구분한다.</a:t>
            </a:r>
          </a:p>
          <a:p xmlns:a="http://schemas.openxmlformats.org/drawingml/2006/main">
            <a:r>
              <a:t>원본 docs/synopsis-v0.1.md, docs/decisions.md, 기존 PPT·DOCX와 Figma는 삭제하지 않는다. 이전 합의 기록과 현재 인수인계가 다른 상태를 명시하며 상세안을 임의 폐기하거나 현재 사양으로 자동 채택하지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사용자 제공 RoxHistory 프로젝트 설계 인수인계 지시, 2026-10-28. 현재 기준 docs/synopsis-v0.1-handover.md. 이전 상세안은 보존하고 재확인 대상으로 구분한다.</a:t>
            </a:r>
          </a:p>
          <a:p xmlns:a="http://schemas.openxmlformats.org/drawingml/2006/main">
            <a:r>
              <a:t>Figma 기존 파일 https://www.figma.com/design/zkbflw9fCdAlWbphhw5pSS . 별도 검토 페이지의 화면 구조는 사용자 합의 전이다. Node.js는 서버 필요성 결정 후 검토한다. 엔진·저장·멀티플레이는 미확정이다.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536c5e86ec463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1f0f7f6d3e486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c05f62063c40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cc3dee718a4c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a9fad272094b6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bab0d3550742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AA2AE2-4FD7-4629-B08C-6ACC2C82DB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1655820-54B6-4E67-AA8A-F025EE0F645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AB5CB4F-8F82-4EB9-9606-94F0106DEA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E32684E-98DA-467F-960A-067FBE5D1B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022C7C9-3F20-4A02-90AB-2765BAB7DA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0859B86-BFBD-4287-BDC5-8A1E212477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AD56C8A-7E8C-4E83-ABD5-D3EDA84765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5C04665-3F57-400A-A169-CAD73BEF645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900D84-AF79-4DA6-9777-65C045B42A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C1515CC-45F2-4589-9375-DDA1438D39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c974d498b54262" /><Relationship Type="http://schemas.openxmlformats.org/officeDocument/2006/relationships/slideLayout" Target="/ppt/slideLayouts/slideLayout1.xml" Id="Rb97fa09b0d994e49" /><Relationship Type="http://schemas.openxmlformats.org/officeDocument/2006/relationships/slideLayout" Target="/ppt/slideLayouts/slideLayout2.xml" Id="R9ff40eedf7fe4c05" /><Relationship Type="http://schemas.openxmlformats.org/officeDocument/2006/relationships/slideLayout" Target="/ppt/slideLayouts/slideLayout3.xml" Id="R380b99e745a149c0" /><Relationship Type="http://schemas.openxmlformats.org/officeDocument/2006/relationships/slideLayout" Target="/ppt/slideLayouts/slideLayout4.xml" Id="R8ae0cd4a001c4d43" /><Relationship Type="http://schemas.openxmlformats.org/officeDocument/2006/relationships/slideLayout" Target="/ppt/slideLayouts/slideLayout5.xml" Id="R8e1ea85fea6d4ec8" /><Relationship Type="http://schemas.openxmlformats.org/officeDocument/2006/relationships/slideLayout" Target="/ppt/slideLayouts/slideLayout6.xml" Id="R38af61cea23141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7fa09b0d994e49"/>
    <p:sldLayoutId xmlns:r="http://schemas.openxmlformats.org/officeDocument/2006/relationships" id="2147483650" r:id="R9ff40eedf7fe4c05"/>
    <p:sldLayoutId xmlns:r="http://schemas.openxmlformats.org/officeDocument/2006/relationships" id="2147483651" r:id="R380b99e745a149c0"/>
    <p:sldLayoutId xmlns:r="http://schemas.openxmlformats.org/officeDocument/2006/relationships" id="2147483652" r:id="R8ae0cd4a001c4d43"/>
    <p:sldLayoutId xmlns:r="http://schemas.openxmlformats.org/officeDocument/2006/relationships" id="2147483653" r:id="R8e1ea85fea6d4ec8"/>
    <p:sldLayoutId xmlns:r="http://schemas.openxmlformats.org/officeDocument/2006/relationships" id="2147483654" r:id="R38af61cea23141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0a866dc75849ac" /><Relationship Type="http://schemas.openxmlformats.org/officeDocument/2006/relationships/notesSlide" Target="/ppt/notesSlides/notesSlide1.xml" Id="Rd031d2e88c6340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760f13693d4903" /><Relationship Type="http://schemas.openxmlformats.org/officeDocument/2006/relationships/notesSlide" Target="/ppt/notesSlides/notesSlide2.xml" Id="R2727aff154e34c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2bae98616a4839" /><Relationship Type="http://schemas.openxmlformats.org/officeDocument/2006/relationships/notesSlide" Target="/ppt/notesSlides/notesSlide3.xml" Id="Rd1ec001a4dc448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04bc9c9de14b84" /><Relationship Type="http://schemas.openxmlformats.org/officeDocument/2006/relationships/image" Target="/ppt/media/image.png" Id="R3a21304b841a45f8" /><Relationship Type="http://schemas.openxmlformats.org/officeDocument/2006/relationships/image" Target="/ppt/media/image.svg" Id="R283d528034dd4010" /><Relationship Type="http://schemas.openxmlformats.org/officeDocument/2006/relationships/notesSlide" Target="/ppt/notesSlides/notesSlide4.xml" Id="R65c0c3a70d0245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a6c78914474b04" /><Relationship Type="http://schemas.openxmlformats.org/officeDocument/2006/relationships/notesSlide" Target="/ppt/notesSlides/notesSlide5.xml" Id="R18e431e46ed643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77da1a0f56427b" /><Relationship Type="http://schemas.openxmlformats.org/officeDocument/2006/relationships/notesSlide" Target="/ppt/notesSlides/notesSlide6.xml" Id="Re2e77ac9cd5141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369eff8312447d" /><Relationship Type="http://schemas.openxmlformats.org/officeDocument/2006/relationships/notesSlide" Target="/ppt/notesSlides/notesSlide7.xml" Id="Reae3588713b34e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bba0b2f4aa40ae" /><Relationship Type="http://schemas.openxmlformats.org/officeDocument/2006/relationships/notesSlide" Target="/ppt/notesSlides/notesSlide8.xml" Id="R2558053e9dd54d6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4d3e065c204ffd" /><Relationship Type="http://schemas.openxmlformats.org/officeDocument/2006/relationships/notesSlide" Target="/ppt/notesSlides/notesSlide9.xml" Id="R98e0c753e0004a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8c38e8593a4e7e" /><Relationship Type="http://schemas.openxmlformats.org/officeDocument/2006/relationships/notesSlide" Target="/ppt/notesSlides/notesSlide10.xml" Id="R089f772ad77944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34160511-215F-494A-BA77-D61D1958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42CF2107-D4BF-4514-9923-EB7B1425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57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RoxHistory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D1528D3-4EC4-4D88-B320-9A510F4E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668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지도에서 만나는</a:t>
            </a:r>
          </a:p>
          <a:p xmlns:a="http://schemas.openxmlformats.org/drawingml/2006/main">
            <a:pPr>
              <a:def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한국 역사의 흐름</a:t>
            </a:r>
          </a:p>
        </p:txBody>
      </p:sp>
      <p:sp>
        <p:nvSpPr>
          <p:cNvPr id="4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13F24BA8-BAC3-4838-960E-1E81E49B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1038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게임을 즐기며 시대의 변화와</a:t>
            </a:r>
          </a:p>
          <a:p xmlns:a="http://schemas.openxmlformats.org/drawingml/2006/main">
            <a:pPr>
              <a:def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한국 지리를 자연스럽게 이해한다</a:t>
            </a:r>
          </a:p>
        </p:txBody>
      </p:sp>
      <p:sp>
        <p:nvSpPr>
          <p:cNvPr id="5" name="version">
            <a:extLst xmlns:a="http://schemas.openxmlformats.org/drawingml/2006/main">
              <a:ext uri="{FF2B5EF4-FFF2-40B4-BE49-F238E27FC236}">
                <a16:creationId xmlns:a16="http://schemas.microsoft.com/office/drawing/2014/main" id="{64A69269-0C49-43E2-BC00-3EFF1FD3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48375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초기 시놉시스 v0.1 인수인계 정합본 · 2026.10.28</a:t>
            </a:r>
          </a:p>
        </p:txBody>
      </p:sp>
    </p:spTree>
    <p:extLst>
      <p:ext uri="{BB962C8B-B14F-4D97-AF65-F5344CB8AC3E}">
        <p14:creationId xmlns:p14="http://schemas.microsoft.com/office/powerpoint/2010/main" val="18234396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640055C1-1AA6-4C98-A5E9-5C50979E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개발 목적과 주요 사용자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12F303B0-7289-4535-85E4-49E1E1C7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purpose">
            <a:extLst xmlns:a="http://schemas.openxmlformats.org/drawingml/2006/main">
              <a:ext uri="{FF2B5EF4-FFF2-40B4-BE49-F238E27FC236}">
                <a16:creationId xmlns:a16="http://schemas.microsoft.com/office/drawing/2014/main" id="{EA7AECB4-AC1C-4E83-BF17-F0CFEE18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세부 암기보다 시대와 지역의 관계를 이해하는 경험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C1185A-A13F-48F4-979D-7BD2D3A22DB1}"/>
              </a:ext>
            </a:extLst>
          </p:cNvPr>
          <p:cNvGraphicFramePr/>
          <p:nvPr/>
        </p:nvGraphicFramePr>
        <p:xfrm>
          <a:off xmlns:a="http://schemas.openxmlformats.org/drawingml/2006/main" x="609600" y="228600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286250"/>
                <a:gridCol w="6686550"/>
              </a:tblGrid>
              <a:tr h="7620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0BD6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주요 사용자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0BD6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얻고 싶은 경험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중·고등학생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처음 배우는 한국사의 큰 흐름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역사를 다시 배우는 성인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나라와 시대, 지역의 관계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역사·지리에 관심 있는 사용자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지도와 변화로 이어지는 역사 경험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</a:tbl>
          </a:graphicData>
        </a:graphic>
      </p:graphicFrame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1A2C1BF7-9EF3-4F1C-9CD3-38F0AB78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역사 지식이 부족해도 진입할 수 있는 게임을 지향한다</a:t>
            </a:r>
          </a:p>
        </p:txBody>
      </p:sp>
    </p:spTree>
    <p:extLst>
      <p:ext uri="{BB962C8B-B14F-4D97-AF65-F5344CB8AC3E}">
        <p14:creationId xmlns:p14="http://schemas.microsoft.com/office/powerpoint/2010/main" val="8463607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2B583FE-FA11-4E1E-B9B3-3B0EADE1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핵심 게임 콘셉트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3E02F02E-4580-435F-899E-9E247280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concept-0">
            <a:extLst xmlns:a="http://schemas.openxmlformats.org/drawingml/2006/main">
              <a:ext uri="{FF2B5EF4-FFF2-40B4-BE49-F238E27FC236}">
                <a16:creationId xmlns:a16="http://schemas.microsoft.com/office/drawing/2014/main" id="{8B48198A-0729-4F2E-AD33-91401628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190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지도</a:t>
            </a:r>
          </a:p>
        </p:txBody>
      </p:sp>
      <p:sp>
        <p:nvSpPr>
          <p:cNvPr id="4" name="concept-body-0">
            <a:extLst xmlns:a="http://schemas.openxmlformats.org/drawingml/2006/main">
              <a:ext uri="{FF2B5EF4-FFF2-40B4-BE49-F238E27FC236}">
                <a16:creationId xmlns:a16="http://schemas.microsoft.com/office/drawing/2014/main" id="{441744C1-D98A-4C05-8268-99F28A6E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66900"/>
            <a:ext cx="8705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한반도와 주변 지역을 중심으로</a:t>
            </a:r>
          </a:p>
          <a:p xmlns:a="http://schemas.openxmlformats.org/drawingml/2006/main">
            <a: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역사 진행과 상호작용을 연결한다</a:t>
            </a:r>
          </a:p>
        </p:txBody>
      </p:sp>
      <p:sp>
        <p:nvSpPr>
          <p:cNvPr id="5" name="concept-1">
            <a:extLst xmlns:a="http://schemas.openxmlformats.org/drawingml/2006/main">
              <a:ext uri="{FF2B5EF4-FFF2-40B4-BE49-F238E27FC236}">
                <a16:creationId xmlns:a16="http://schemas.microsoft.com/office/drawing/2014/main" id="{F5B439A0-27A8-4E92-98E4-586426F5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90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시간</a:t>
            </a:r>
          </a:p>
        </p:txBody>
      </p:sp>
      <p:sp>
        <p:nvSpPr>
          <p:cNvPr id="6" name="concept-body-1">
            <a:extLst xmlns:a="http://schemas.openxmlformats.org/drawingml/2006/main">
              <a:ext uri="{FF2B5EF4-FFF2-40B4-BE49-F238E27FC236}">
                <a16:creationId xmlns:a16="http://schemas.microsoft.com/office/drawing/2014/main" id="{FABFBE61-F238-46F3-98E5-57565682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81350"/>
            <a:ext cx="8705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선사시대부터 주요 시대를 따라</a:t>
            </a:r>
          </a:p>
          <a:p xmlns:a="http://schemas.openxmlformats.org/drawingml/2006/main">
            <a: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국가와 세력, 장소의 변화를 접한다</a:t>
            </a:r>
          </a:p>
        </p:txBody>
      </p:sp>
      <p:sp>
        <p:nvSpPr>
          <p:cNvPr id="7" name="concept-2">
            <a:extLst xmlns:a="http://schemas.openxmlformats.org/drawingml/2006/main">
              <a:ext uri="{FF2B5EF4-FFF2-40B4-BE49-F238E27FC236}">
                <a16:creationId xmlns:a16="http://schemas.microsoft.com/office/drawing/2014/main" id="{AD41B6F7-04DC-404C-BE94-93192286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90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플레이</a:t>
            </a:r>
          </a:p>
        </p:txBody>
      </p:sp>
      <p:sp>
        <p:nvSpPr>
          <p:cNvPr id="8" name="concept-body-2">
            <a:extLst xmlns:a="http://schemas.openxmlformats.org/drawingml/2006/main">
              <a:ext uri="{FF2B5EF4-FFF2-40B4-BE49-F238E27FC236}">
                <a16:creationId xmlns:a16="http://schemas.microsoft.com/office/drawing/2014/main" id="{75D2BC4C-10B4-46C3-8DC0-99EB1986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495800"/>
            <a:ext cx="8705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재미를 경험하는 과정에서</a:t>
            </a:r>
          </a:p>
          <a:p xmlns:a="http://schemas.openxmlformats.org/drawingml/2006/main">
            <a:pPr>
              <a:def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역사와 지리의 맥락이 남도록 한다</a:t>
            </a:r>
          </a:p>
        </p:txBody>
      </p:sp>
    </p:spTree>
    <p:extLst>
      <p:ext uri="{BB962C8B-B14F-4D97-AF65-F5344CB8AC3E}">
        <p14:creationId xmlns:p14="http://schemas.microsoft.com/office/powerpoint/2010/main" val="19984684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A8A3FC06-D1AF-423D-986C-4D714B27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지도가 연결하는 역사 정보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DF9806A7-8C39-45C2-B8B0-9558E51A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61A09-1733-4C73-8EC6-89CF3B3D9D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21304b841a45f8">
            <a:extLst>
              <a:ext uri="{96DAC541-7B7A-43D3-8B79-37D633B846F1}">
                <asvg:svgBlip xmlns:asvg="http://schemas.microsoft.com/office/drawing/2016/SVG/main" r:embed="R283d528034dd40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1390650"/>
            <a:ext cx="5962650" cy="4552950"/>
          </a:xfrm>
          <a:prstGeom xmlns:a="http://schemas.openxmlformats.org/drawingml/2006/main" prst="rect">
            <a:avLst/>
          </a:prstGeom>
        </p:spPr>
      </p:pic>
      <p:sp>
        <p:nvSpPr>
          <p:cNvPr id="4" name="map-label-0">
            <a:extLst xmlns:a="http://schemas.openxmlformats.org/drawingml/2006/main">
              <a:ext uri="{FF2B5EF4-FFF2-40B4-BE49-F238E27FC236}">
                <a16:creationId xmlns:a16="http://schemas.microsoft.com/office/drawing/2014/main" id="{1975E7DD-334E-40FA-8B3F-F4D94FF1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0225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국가와 세력</a:t>
            </a:r>
          </a:p>
        </p:txBody>
      </p:sp>
      <p:sp>
        <p:nvSpPr>
          <p:cNvPr id="5" name="map-detail-0">
            <a:extLst xmlns:a="http://schemas.openxmlformats.org/drawingml/2006/main">
              <a:ext uri="{FF2B5EF4-FFF2-40B4-BE49-F238E27FC236}">
                <a16:creationId xmlns:a16="http://schemas.microsoft.com/office/drawing/2014/main" id="{77969F69-8930-42D6-9200-95A4BF05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71725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등장·발전·소멸과 관계</a:t>
            </a:r>
          </a:p>
        </p:txBody>
      </p:sp>
      <p:sp>
        <p:nvSpPr>
          <p:cNvPr id="6" name="map-label-1">
            <a:extLst xmlns:a="http://schemas.openxmlformats.org/drawingml/2006/main">
              <a:ext uri="{FF2B5EF4-FFF2-40B4-BE49-F238E27FC236}">
                <a16:creationId xmlns:a16="http://schemas.microsoft.com/office/drawing/2014/main" id="{B1A6DFF8-29A1-4487-B326-378D06B2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242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지형과 장소</a:t>
            </a:r>
          </a:p>
        </p:txBody>
      </p:sp>
      <p:sp>
        <p:nvSpPr>
          <p:cNvPr id="7" name="map-detail-1">
            <a:extLst xmlns:a="http://schemas.openxmlformats.org/drawingml/2006/main">
              <a:ext uri="{FF2B5EF4-FFF2-40B4-BE49-F238E27FC236}">
                <a16:creationId xmlns:a16="http://schemas.microsoft.com/office/drawing/2014/main" id="{E5564935-E629-42FE-9622-ED345565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95700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지역의 위치와 지리적 맥락</a:t>
            </a:r>
          </a:p>
        </p:txBody>
      </p:sp>
      <p:sp>
        <p:nvSpPr>
          <p:cNvPr id="8" name="map-label-2">
            <a:extLst xmlns:a="http://schemas.openxmlformats.org/drawingml/2006/main">
              <a:ext uri="{FF2B5EF4-FFF2-40B4-BE49-F238E27FC236}">
                <a16:creationId xmlns:a16="http://schemas.microsoft.com/office/drawing/2014/main" id="{5717FF7E-0210-42D6-90A8-529F4AFF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48175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사건과 변화</a:t>
            </a:r>
          </a:p>
        </p:txBody>
      </p:sp>
      <p:sp>
        <p:nvSpPr>
          <p:cNvPr id="9" name="map-detail-2">
            <a:extLst xmlns:a="http://schemas.openxmlformats.org/drawingml/2006/main">
              <a:ext uri="{FF2B5EF4-FFF2-40B4-BE49-F238E27FC236}">
                <a16:creationId xmlns:a16="http://schemas.microsoft.com/office/drawing/2014/main" id="{17FB5C39-B5BD-49F0-83E2-B80E197E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19675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시점에 따라 달라지는 지도</a:t>
            </a:r>
          </a:p>
        </p:txBody>
      </p:sp>
      <p:sp>
        <p:nvSpPr>
          <p:cNvPr id="10" name="map-disclosure">
            <a:extLst xmlns:a="http://schemas.openxmlformats.org/drawingml/2006/main">
              <a:ext uri="{FF2B5EF4-FFF2-40B4-BE49-F238E27FC236}">
                <a16:creationId xmlns:a16="http://schemas.microsoft.com/office/drawing/2014/main" id="{7E7EE49F-37C0-4E43-8D6D-3ACD8A4A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현대 해안선 참고도 · 역사 지도와 시대별 영역은 후속 고증</a:t>
            </a:r>
          </a:p>
        </p:txBody>
      </p:sp>
    </p:spTree>
    <p:extLst>
      <p:ext uri="{BB962C8B-B14F-4D97-AF65-F5344CB8AC3E}">
        <p14:creationId xmlns:p14="http://schemas.microsoft.com/office/powerpoint/2010/main" val="2064462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28760E38-4307-4AB5-B77C-18F0D24A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선사시대부터 현대까지의 흐름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C5B2C80B-DFE9-4774-BB4F-3B170A61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era-n-0">
            <a:extLst xmlns:a="http://schemas.openxmlformats.org/drawingml/2006/main">
              <a:ext uri="{FF2B5EF4-FFF2-40B4-BE49-F238E27FC236}">
                <a16:creationId xmlns:a16="http://schemas.microsoft.com/office/drawing/2014/main" id="{73A6EA36-8AF0-4DCD-8A13-0C4DD425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era-0">
            <a:extLst xmlns:a="http://schemas.openxmlformats.org/drawingml/2006/main">
              <a:ext uri="{FF2B5EF4-FFF2-40B4-BE49-F238E27FC236}">
                <a16:creationId xmlns:a16="http://schemas.microsoft.com/office/drawing/2014/main" id="{89364255-EC11-4386-804D-A55C96EF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1685925"/>
            <a:ext cx="433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선사시대</a:t>
            </a:r>
          </a:p>
        </p:txBody>
      </p:sp>
      <p:sp>
        <p:nvSpPr>
          <p:cNvPr id="5" name="era-n-1">
            <a:extLst xmlns:a="http://schemas.openxmlformats.org/drawingml/2006/main">
              <a:ext uri="{FF2B5EF4-FFF2-40B4-BE49-F238E27FC236}">
                <a16:creationId xmlns:a16="http://schemas.microsoft.com/office/drawing/2014/main" id="{D5EE9F30-9DAC-445A-A46E-08201AD2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6" name="era-1">
            <a:extLst xmlns:a="http://schemas.openxmlformats.org/drawingml/2006/main">
              <a:ext uri="{FF2B5EF4-FFF2-40B4-BE49-F238E27FC236}">
                <a16:creationId xmlns:a16="http://schemas.microsoft.com/office/drawing/2014/main" id="{82E6AB61-8FF5-4385-AF56-E353303B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686050"/>
            <a:ext cx="433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고조선과 초기 국가</a:t>
            </a:r>
          </a:p>
        </p:txBody>
      </p:sp>
      <p:sp>
        <p:nvSpPr>
          <p:cNvPr id="7" name="era-n-2">
            <a:extLst xmlns:a="http://schemas.openxmlformats.org/drawingml/2006/main">
              <a:ext uri="{FF2B5EF4-FFF2-40B4-BE49-F238E27FC236}">
                <a16:creationId xmlns:a16="http://schemas.microsoft.com/office/drawing/2014/main" id="{145BAA6D-2296-48EC-AEA9-A92F1007E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8" name="era-2">
            <a:extLst xmlns:a="http://schemas.openxmlformats.org/drawingml/2006/main">
              <a:ext uri="{FF2B5EF4-FFF2-40B4-BE49-F238E27FC236}">
                <a16:creationId xmlns:a16="http://schemas.microsoft.com/office/drawing/2014/main" id="{B64E8EF6-80A0-424A-ACA7-7EFE50BE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686175"/>
            <a:ext cx="433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삼국시대 및 가야</a:t>
            </a:r>
          </a:p>
        </p:txBody>
      </p:sp>
      <p:sp>
        <p:nvSpPr>
          <p:cNvPr id="9" name="era-n-3">
            <a:extLst xmlns:a="http://schemas.openxmlformats.org/drawingml/2006/main">
              <a:ext uri="{FF2B5EF4-FFF2-40B4-BE49-F238E27FC236}">
                <a16:creationId xmlns:a16="http://schemas.microsoft.com/office/drawing/2014/main" id="{32B8AFFB-B880-4325-A030-E5748EDF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0" name="era-3">
            <a:extLst xmlns:a="http://schemas.openxmlformats.org/drawingml/2006/main">
              <a:ext uri="{FF2B5EF4-FFF2-40B4-BE49-F238E27FC236}">
                <a16:creationId xmlns:a16="http://schemas.microsoft.com/office/drawing/2014/main" id="{A5833824-E387-45E5-BC31-5D33FDEB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686300"/>
            <a:ext cx="433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남북국시대</a:t>
            </a:r>
          </a:p>
        </p:txBody>
      </p:sp>
      <p:sp>
        <p:nvSpPr>
          <p:cNvPr id="11" name="era-n-4">
            <a:extLst xmlns:a="http://schemas.openxmlformats.org/drawingml/2006/main">
              <a:ext uri="{FF2B5EF4-FFF2-40B4-BE49-F238E27FC236}">
                <a16:creationId xmlns:a16="http://schemas.microsoft.com/office/drawing/2014/main" id="{0C5AD3AC-344D-47C9-96C6-26E926FC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12" name="era-4">
            <a:extLst xmlns:a="http://schemas.openxmlformats.org/drawingml/2006/main">
              <a:ext uri="{FF2B5EF4-FFF2-40B4-BE49-F238E27FC236}">
                <a16:creationId xmlns:a16="http://schemas.microsoft.com/office/drawing/2014/main" id="{F2BE6CE1-9AA8-440C-B169-974CA547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1685925"/>
            <a:ext cx="433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후삼국과 고려</a:t>
            </a:r>
          </a:p>
        </p:txBody>
      </p:sp>
      <p:sp>
        <p:nvSpPr>
          <p:cNvPr id="13" name="era-n-5">
            <a:extLst xmlns:a="http://schemas.openxmlformats.org/drawingml/2006/main">
              <a:ext uri="{FF2B5EF4-FFF2-40B4-BE49-F238E27FC236}">
                <a16:creationId xmlns:a16="http://schemas.microsoft.com/office/drawing/2014/main" id="{4DC489DF-0BF9-45BD-9A8A-26A2DA75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86050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14" name="era-5">
            <a:extLst xmlns:a="http://schemas.openxmlformats.org/drawingml/2006/main">
              <a:ext uri="{FF2B5EF4-FFF2-40B4-BE49-F238E27FC236}">
                <a16:creationId xmlns:a16="http://schemas.microsoft.com/office/drawing/2014/main" id="{10C97CEB-FD47-4831-BAA3-9A85949D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2686050"/>
            <a:ext cx="433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조선</a:t>
            </a:r>
          </a:p>
        </p:txBody>
      </p:sp>
      <p:sp>
        <p:nvSpPr>
          <p:cNvPr id="15" name="era-n-6">
            <a:extLst xmlns:a="http://schemas.openxmlformats.org/drawingml/2006/main">
              <a:ext uri="{FF2B5EF4-FFF2-40B4-BE49-F238E27FC236}">
                <a16:creationId xmlns:a16="http://schemas.microsoft.com/office/drawing/2014/main" id="{AC2753E8-E7BA-4480-A406-D75D9170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86175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16" name="era-6">
            <a:extLst xmlns:a="http://schemas.openxmlformats.org/drawingml/2006/main">
              <a:ext uri="{FF2B5EF4-FFF2-40B4-BE49-F238E27FC236}">
                <a16:creationId xmlns:a16="http://schemas.microsoft.com/office/drawing/2014/main" id="{7992A2F4-D9FA-4B2E-A9EE-4BE54969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3686175"/>
            <a:ext cx="433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근대 및 일제강점기</a:t>
            </a:r>
          </a:p>
        </p:txBody>
      </p:sp>
      <p:sp>
        <p:nvSpPr>
          <p:cNvPr id="17" name="era-n-7">
            <a:extLst xmlns:a="http://schemas.openxmlformats.org/drawingml/2006/main">
              <a:ext uri="{FF2B5EF4-FFF2-40B4-BE49-F238E27FC236}">
                <a16:creationId xmlns:a16="http://schemas.microsoft.com/office/drawing/2014/main" id="{F6585C95-0B58-492E-B9EB-E8E84E33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86300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18" name="era-7">
            <a:extLst xmlns:a="http://schemas.openxmlformats.org/drawingml/2006/main">
              <a:ext uri="{FF2B5EF4-FFF2-40B4-BE49-F238E27FC236}">
                <a16:creationId xmlns:a16="http://schemas.microsoft.com/office/drawing/2014/main" id="{A9DFE3D9-9768-442A-B6AF-EE64A678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4686300"/>
            <a:ext cx="433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현대 대한민국</a:t>
            </a:r>
          </a:p>
        </p:txBody>
      </p:sp>
      <p:sp>
        <p:nvSpPr>
          <p:cNvPr id="19" name="era-state">
            <a:extLst xmlns:a="http://schemas.openxmlformats.org/drawingml/2006/main">
              <a:ext uri="{FF2B5EF4-FFF2-40B4-BE49-F238E27FC236}">
                <a16:creationId xmlns:a16="http://schemas.microsoft.com/office/drawing/2014/main" id="{4A246BB8-D5F7-4F6F-AB57-26D86A37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잠정 시대 구분 · 실제 장·스테이지·진행 조건과 분량은 미정</a:t>
            </a:r>
          </a:p>
        </p:txBody>
      </p:sp>
    </p:spTree>
    <p:extLst>
      <p:ext uri="{BB962C8B-B14F-4D97-AF65-F5344CB8AC3E}">
        <p14:creationId xmlns:p14="http://schemas.microsoft.com/office/powerpoint/2010/main" val="3253156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15FB6-C7A7-480B-B8F4-DF46A4941D9A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76300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FF2713-26A8-44A6-8DB3-6FD1BC0C41AB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94360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184818-F063-4C40-83B7-314834622253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2420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B5939D00-F1C1-4402-8B04-D34317D6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플레이어 경험의 목표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8403A9A0-2E38-4AE8-8106-1E2ECDAE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intro">
            <a:extLst xmlns:a="http://schemas.openxmlformats.org/drawingml/2006/main">
              <a:ext uri="{FF2B5EF4-FFF2-40B4-BE49-F238E27FC236}">
                <a16:creationId xmlns:a16="http://schemas.microsoft.com/office/drawing/2014/main" id="{B72B541B-488B-49BC-B441-B381FAB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같은 공간에서 이어지는 변화를 경험한다</a:t>
            </a:r>
          </a:p>
        </p:txBody>
      </p:sp>
      <p:sp>
        <p:nvSpPr>
          <p:cNvPr id="4" name="experience-0">
            <a:extLst xmlns:a="http://schemas.openxmlformats.org/drawingml/2006/main">
              <a:ext uri="{FF2B5EF4-FFF2-40B4-BE49-F238E27FC236}">
                <a16:creationId xmlns:a16="http://schemas.microsoft.com/office/drawing/2014/main" id="{5A68C881-D87E-4D69-8C1B-D556CC9A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58726A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지역을 이해</a:t>
            </a:r>
          </a:p>
        </p:txBody>
      </p:sp>
      <p:sp>
        <p:nvSpPr>
          <p:cNvPr id="5" name="experience-1">
            <a:extLst xmlns:a="http://schemas.openxmlformats.org/drawingml/2006/main">
              <a:ext uri="{FF2B5EF4-FFF2-40B4-BE49-F238E27FC236}">
                <a16:creationId xmlns:a16="http://schemas.microsoft.com/office/drawing/2014/main" id="{9BA04C63-37B3-4918-ABA0-04776925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58726A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관계를 파악</a:t>
            </a:r>
          </a:p>
        </p:txBody>
      </p:sp>
      <p:sp>
        <p:nvSpPr>
          <p:cNvPr id="6" name="experience-2">
            <a:extLst xmlns:a="http://schemas.openxmlformats.org/drawingml/2006/main">
              <a:ext uri="{FF2B5EF4-FFF2-40B4-BE49-F238E27FC236}">
                <a16:creationId xmlns:a16="http://schemas.microsoft.com/office/drawing/2014/main" id="{49E23532-C709-4EF9-B036-6C12E014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71750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58726A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변화를 체험</a:t>
            </a:r>
          </a:p>
        </p:txBody>
      </p:sp>
      <p:sp>
        <p:nvSpPr>
          <p:cNvPr id="7" name="experience-3">
            <a:extLst xmlns:a="http://schemas.openxmlformats.org/drawingml/2006/main">
              <a:ext uri="{FF2B5EF4-FFF2-40B4-BE49-F238E27FC236}">
                <a16:creationId xmlns:a16="http://schemas.microsoft.com/office/drawing/2014/main" id="{77263E7D-E916-417D-A2A4-867166C1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71750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58726A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흐름을 연결</a:t>
            </a:r>
          </a:p>
        </p:txBody>
      </p:sp>
      <p:sp>
        <p:nvSpPr>
          <p:cNvPr id="11" name="meaning-0">
            <a:extLst xmlns:a="http://schemas.openxmlformats.org/drawingml/2006/main">
              <a:ext uri="{FF2B5EF4-FFF2-40B4-BE49-F238E27FC236}">
                <a16:creationId xmlns:a16="http://schemas.microsoft.com/office/drawing/2014/main" id="{A2228C4B-5CD6-45B0-BC3D-5347E8A0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2514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어디에 있는가</a:t>
            </a:r>
          </a:p>
        </p:txBody>
      </p:sp>
      <p:sp>
        <p:nvSpPr>
          <p:cNvPr id="12" name="meaning-1">
            <a:extLst xmlns:a="http://schemas.openxmlformats.org/drawingml/2006/main">
              <a:ext uri="{FF2B5EF4-FFF2-40B4-BE49-F238E27FC236}">
                <a16:creationId xmlns:a16="http://schemas.microsoft.com/office/drawing/2014/main" id="{7F4D3180-CC68-4426-9FF4-E35E433B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76675"/>
            <a:ext cx="2514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무엇과 연결되는가</a:t>
            </a:r>
          </a:p>
        </p:txBody>
      </p:sp>
      <p:sp>
        <p:nvSpPr>
          <p:cNvPr id="13" name="meaning-2">
            <a:extLst xmlns:a="http://schemas.openxmlformats.org/drawingml/2006/main">
              <a:ext uri="{FF2B5EF4-FFF2-40B4-BE49-F238E27FC236}">
                <a16:creationId xmlns:a16="http://schemas.microsoft.com/office/drawing/2014/main" id="{6A78328A-9F0A-4218-AA24-249C8995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76675"/>
            <a:ext cx="2514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무엇이 달라졌는가</a:t>
            </a:r>
          </a:p>
        </p:txBody>
      </p:sp>
      <p:sp>
        <p:nvSpPr>
          <p:cNvPr id="14" name="meaning-3">
            <a:extLst xmlns:a="http://schemas.openxmlformats.org/drawingml/2006/main">
              <a:ext uri="{FF2B5EF4-FFF2-40B4-BE49-F238E27FC236}">
                <a16:creationId xmlns:a16="http://schemas.microsoft.com/office/drawing/2014/main" id="{D86847A0-C293-40AB-B6FB-C64ACBC2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876675"/>
            <a:ext cx="2514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앞뒤 시대의 관계</a:t>
            </a:r>
          </a:p>
        </p:txBody>
      </p:sp>
      <p:sp>
        <p:nvSpPr>
          <p:cNvPr id="15" name="pending">
            <a:extLst xmlns:a="http://schemas.openxmlformats.org/drawingml/2006/main">
              <a:ext uri="{FF2B5EF4-FFF2-40B4-BE49-F238E27FC236}">
                <a16:creationId xmlns:a16="http://schemas.microsoft.com/office/drawing/2014/main" id="{D85F7CE5-10B1-4BD1-BD42-3848AD14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기본 반복 행동과 목표·보상은 다음 시스템 설계에서 협의한다</a:t>
            </a:r>
          </a:p>
        </p:txBody>
      </p:sp>
    </p:spTree>
    <p:extLst>
      <p:ext uri="{BB962C8B-B14F-4D97-AF65-F5344CB8AC3E}">
        <p14:creationId xmlns:p14="http://schemas.microsoft.com/office/powerpoint/2010/main" val="2567751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B512C7B1-45C6-478F-B2F6-830393C8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역사 학습과 플레이의 관계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8FC51606-556D-4413-8A41-C736B618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5229CC-9ED5-41CD-B2A7-C44C4EC0986B}"/>
              </a:ext>
            </a:extLst>
          </p:cNvPr>
          <p:cNvGraphicFramePr/>
          <p:nvPr/>
        </p:nvGraphicFramePr>
        <p:xfrm>
          <a:off xmlns:a="http://schemas.openxmlformats.org/drawingml/2006/main" x="609600" y="1704975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334000"/>
                <a:gridCol w="5638800"/>
              </a:tblGrid>
              <a:tr h="73914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0BD6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플레이에서 접할 변화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0BD6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자연스럽게 이해할 맥락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지역과 장소를 지도에서 접한다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위치와 주변 지리의 관계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국가와 세력의 변화를 본다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국가의 등장과 발전, 세력 관계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주요 사건과 장소를 연결한다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어디에서 무엇이 달라졌는지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앞뒤 시대의 지도를 비교한다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시대의 순서와 큰 전환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</a:tbl>
          </a:graphicData>
        </a:graphic>
      </p:graphicFrame>
      <p:sp>
        <p:nvSpPr>
          <p:cNvPr id="4" name="learning">
            <a:extLst xmlns:a="http://schemas.openxmlformats.org/drawingml/2006/main">
              <a:ext uri="{FF2B5EF4-FFF2-40B4-BE49-F238E27FC236}">
                <a16:creationId xmlns:a16="http://schemas.microsoft.com/office/drawing/2014/main" id="{660561A1-91E5-46F5-97EF-8A124DD3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맥락에 필요한 핵심부터 제공하고 상세 정보의 양과 방식은 검토한다</a:t>
            </a:r>
          </a:p>
        </p:txBody>
      </p:sp>
    </p:spTree>
    <p:extLst>
      <p:ext uri="{BB962C8B-B14F-4D97-AF65-F5344CB8AC3E}">
        <p14:creationId xmlns:p14="http://schemas.microsoft.com/office/powerpoint/2010/main" val="10729139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2488E01-3955-4697-9D35-6333FCFE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역사적 사실과 게임적 가정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FCF04B1E-8F6B-49E8-B03C-8E0791C5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fact-title">
            <a:extLst xmlns:a="http://schemas.openxmlformats.org/drawingml/2006/main">
              <a:ext uri="{FF2B5EF4-FFF2-40B4-BE49-F238E27FC236}">
                <a16:creationId xmlns:a16="http://schemas.microsoft.com/office/drawing/2014/main" id="{9D855B52-88C6-469C-8607-DBD0BEA3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역사 자료의 기준</a:t>
            </a:r>
          </a:p>
        </p:txBody>
      </p:sp>
      <p:sp>
        <p:nvSpPr>
          <p:cNvPr id="4" name="facts">
            <a:extLst xmlns:a="http://schemas.openxmlformats.org/drawingml/2006/main">
              <a:ext uri="{FF2B5EF4-FFF2-40B4-BE49-F238E27FC236}">
                <a16:creationId xmlns:a16="http://schemas.microsoft.com/office/drawing/2014/main" id="{36FED6CA-54F1-40AE-9A85-C7F7CD2F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5048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시점과 출처를 함께 관리</a:t>
            </a:r>
          </a:p>
          <a:p xmlns:a="http://schemas.openxmlformats.org/drawingml/2006/main">
            <a: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영토·영향권·문화권을 구분</a:t>
            </a:r>
          </a:p>
          <a:p xmlns:a="http://schemas.openxmlformats.org/drawingml/2006/main">
            <a: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논쟁과 불확실성을 표시</a:t>
            </a:r>
          </a:p>
          <a:p xmlns:a="http://schemas.openxmlformats.org/drawingml/2006/main">
            <a: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시대별 지형과 정치 변화 검토</a:t>
            </a:r>
          </a:p>
        </p:txBody>
      </p:sp>
      <p:sp>
        <p:nvSpPr>
          <p:cNvPr id="5" name="fiction-title">
            <a:extLst xmlns:a="http://schemas.openxmlformats.org/drawingml/2006/main">
              <a:ext uri="{FF2B5EF4-FFF2-40B4-BE49-F238E27FC236}">
                <a16:creationId xmlns:a16="http://schemas.microsoft.com/office/drawing/2014/main" id="{8B9229C1-8AFA-427B-AD68-599946F0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57350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게임 설계의 기준</a:t>
            </a:r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F596C7E8-FF8E-437A-BCA1-C5705831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95550"/>
            <a:ext cx="5048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확인된 사실과 가정을 구분</a:t>
            </a:r>
          </a:p>
          <a:p xmlns:a="http://schemas.openxmlformats.org/drawingml/2006/main">
            <a: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가상 전개를 실제 역사와 구별</a:t>
            </a:r>
          </a:p>
          <a:p xmlns:a="http://schemas.openxmlformats.org/drawingml/2006/main">
            <a: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설명보다 맥락과 경험을 우선</a:t>
            </a:r>
          </a:p>
          <a:p xmlns:a="http://schemas.openxmlformats.org/drawingml/2006/main">
            <a:pPr>
              <a:def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분기와 선택 규칙은 미확정</a:t>
            </a:r>
          </a:p>
        </p:txBody>
      </p:sp>
      <p:sp>
        <p:nvSpPr>
          <p:cNvPr id="7" name="accuracy">
            <a:extLst xmlns:a="http://schemas.openxmlformats.org/drawingml/2006/main">
              <a:ext uri="{FF2B5EF4-FFF2-40B4-BE49-F238E27FC236}">
                <a16:creationId xmlns:a16="http://schemas.microsoft.com/office/drawing/2014/main" id="{EB254701-8154-4899-B363-5AD1145D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고증 전의 영토 도형을 확정된 역사 지도처럼 사용하지 않는다</a:t>
            </a:r>
          </a:p>
        </p:txBody>
      </p:sp>
    </p:spTree>
    <p:extLst>
      <p:ext uri="{BB962C8B-B14F-4D97-AF65-F5344CB8AC3E}">
        <p14:creationId xmlns:p14="http://schemas.microsoft.com/office/powerpoint/2010/main" val="5912407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E7B73618-0C24-4165-AD28-080EFF48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기존 상세안과 현재 결정 상태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2FC873E6-DB7D-4254-A8C0-74DF79E1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3B7878-904E-4D5B-A5F6-973355502B9F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0"/>
                <a:gridCol w="5734050"/>
              </a:tblGrid>
              <a:tr h="7429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0BD6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이전 산출물에 남은 내용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0BD6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현재 처리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생존 RPG·사냥·제작·도시 성장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상세안으로 보존, 재확인 필요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 가지 지역 시작 경로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상세안으로 보존, 재확인 필요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근현대까지 약 40장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이전 목표 규모, 현재 분량 미정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세계 재구성·인물 재선택·계승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6F0E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상세안으로 보존, 재확인 필요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</a:tbl>
          </a:graphicData>
        </a:graphic>
      </p:graphicFrame>
      <p:sp>
        <p:nvSpPr>
          <p:cNvPr id="4" name="status">
            <a:extLst xmlns:a="http://schemas.openxmlformats.org/drawingml/2006/main">
              <a:ext uri="{FF2B5EF4-FFF2-40B4-BE49-F238E27FC236}">
                <a16:creationId xmlns:a16="http://schemas.microsoft.com/office/drawing/2014/main" id="{533792BD-6D2E-4139-9EEC-0C21796F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최신 인수인계는 구체 게임 방식과 시스템을 미확정으로 구분한다</a:t>
            </a:r>
          </a:p>
        </p:txBody>
      </p:sp>
    </p:spTree>
    <p:extLst>
      <p:ext uri="{BB962C8B-B14F-4D97-AF65-F5344CB8AC3E}">
        <p14:creationId xmlns:p14="http://schemas.microsoft.com/office/powerpoint/2010/main" val="8964736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1D4B273-67CB-4DD4-9152-FAE30B52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다음 설계와 개발 방향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7E8A7F27-CA04-4F14-AFF6-77D2A6D7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B9C9B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" name="fixed">
            <a:extLst xmlns:a="http://schemas.openxmlformats.org/drawingml/2006/main">
              <a:ext uri="{FF2B5EF4-FFF2-40B4-BE49-F238E27FC236}">
                <a16:creationId xmlns:a16="http://schemas.microsoft.com/office/drawing/2014/main" id="{EA7D9553-D2A1-43D3-BD52-D2F3FE24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설계 기준</a:t>
            </a:r>
          </a:p>
        </p:txBody>
      </p:sp>
      <p:sp>
        <p:nvSpPr>
          <p:cNvPr id="4" name="fixed-list">
            <a:extLst xmlns:a="http://schemas.openxmlformats.org/drawingml/2006/main">
              <a:ext uri="{FF2B5EF4-FFF2-40B4-BE49-F238E27FC236}">
                <a16:creationId xmlns:a16="http://schemas.microsoft.com/office/drawing/2014/main" id="{E9C6A4F8-8BBA-4AA9-9450-9CC48757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5048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지도 중심의 역사 경험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선사시대부터 이어지는 흐름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역사와 지리의 자연스러운 학습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사실·해석·게임 가정의 구분</a:t>
            </a:r>
          </a:p>
        </p:txBody>
      </p:sp>
      <p:sp>
        <p:nvSpPr>
          <p:cNvPr id="5" name="next">
            <a:extLst xmlns:a="http://schemas.openxmlformats.org/drawingml/2006/main">
              <a:ext uri="{FF2B5EF4-FFF2-40B4-BE49-F238E27FC236}">
                <a16:creationId xmlns:a16="http://schemas.microsoft.com/office/drawing/2014/main" id="{6CC24345-BA80-4714-9F56-A05D9929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09725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다음 결정</a:t>
            </a:r>
          </a:p>
        </p:txBody>
      </p:sp>
      <p:sp>
        <p:nvSpPr>
          <p:cNvPr id="6" name="next-list">
            <a:extLst xmlns:a="http://schemas.openxmlformats.org/drawingml/2006/main">
              <a:ext uri="{FF2B5EF4-FFF2-40B4-BE49-F238E27FC236}">
                <a16:creationId xmlns:a16="http://schemas.microsoft.com/office/drawing/2014/main" id="{E7C1E80C-AFDF-4588-AC43-900E470A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81250"/>
            <a:ext cx="5048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기본 반복 행동과 플레이어 역할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목표·보상·시대 진행 조건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지도와 실제 플레이의 관계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React·TypeScript 기반 구현 범위</a:t>
            </a:r>
          </a:p>
        </p:txBody>
      </p:sp>
      <p:sp>
        <p:nvSpPr>
          <p:cNvPr id="7" name="figma">
            <a:extLst xmlns:a="http://schemas.openxmlformats.org/drawingml/2006/main">
              <a:ext uri="{FF2B5EF4-FFF2-40B4-BE49-F238E27FC236}">
                <a16:creationId xmlns:a16="http://schemas.microsoft.com/office/drawing/2014/main" id="{3E40E42F-AE83-4EC0-B1D1-218473C4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F0BD6C"/>
                </a:solidFill>
                <a:latin typeface="Malgun Gothic"/>
                <a:ea typeface="Malgun Gothic"/>
                <a:cs typeface="Malgun Gothic"/>
              </a:rPr>
              <a:t>Figma 검토 범위</a:t>
            </a:r>
          </a:p>
        </p:txBody>
      </p:sp>
      <p:sp>
        <p:nvSpPr>
          <p:cNvPr id="8" name="scope">
            <a:extLst xmlns:a="http://schemas.openxmlformats.org/drawingml/2006/main">
              <a:ext uri="{FF2B5EF4-FFF2-40B4-BE49-F238E27FC236}">
                <a16:creationId xmlns:a16="http://schemas.microsoft.com/office/drawing/2014/main" id="{1FF47F79-78F5-4D50-AE85-90EB47B8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F6F0E3"/>
                </a:solidFill>
                <a:latin typeface="Malgun Gothic"/>
                <a:ea typeface="Malgun Gothic"/>
                <a:cs typeface="Malgun Gothic"/>
              </a:rPr>
              <a:t>메인 · 지도 · 시대 선택·진행 · 국가·지역 정보 · 역사 이벤트</a:t>
            </a:r>
          </a:p>
        </p:txBody>
      </p:sp>
    </p:spTree>
    <p:extLst>
      <p:ext uri="{BB962C8B-B14F-4D97-AF65-F5344CB8AC3E}">
        <p14:creationId xmlns:p14="http://schemas.microsoft.com/office/powerpoint/2010/main" val="10987539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2026-10-28T12:37:44.2910000Z</dcterms:created>
  <dcterms:modified xsi:type="dcterms:W3CDTF">2026-10-28T12:37:44.2910000Z</dcterms:modified>
</coreProperties>
</file>