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505ed75d94f5f" /><Relationship Type="http://schemas.openxmlformats.org/officeDocument/2006/relationships/extended-properties" Target="/docProps/app.xml" Id="R8866b66ff4b148e7" /><Relationship Type="http://schemas.openxmlformats.org/officeDocument/2006/relationships/officeDocument" Target="/ppt/presentation.xml" Id="Rd7e860f66243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bf9dd33a74c1c"/>
  </p:sldMasterIdLst>
  <p:notesMasterIdLst>
    <p:notesMasterId xmlns:r="http://schemas.openxmlformats.org/officeDocument/2006/relationships" r:id="R9c686e1cae5c4ea2"/>
  </p:notesMasterIdLst>
  <p:sldIdLst>
    <p:sldId xmlns:r="http://schemas.openxmlformats.org/officeDocument/2006/relationships" id="256" r:id="R5abdb551749b45d8"/>
    <p:sldId xmlns:r="http://schemas.openxmlformats.org/officeDocument/2006/relationships" id="257" r:id="R9b684ecce0da4d71"/>
    <p:sldId xmlns:r="http://schemas.openxmlformats.org/officeDocument/2006/relationships" id="258" r:id="R0358d99a1f18464f"/>
    <p:sldId xmlns:r="http://schemas.openxmlformats.org/officeDocument/2006/relationships" id="259" r:id="R36d4e19633b44351"/>
    <p:sldId xmlns:r="http://schemas.openxmlformats.org/officeDocument/2006/relationships" id="260" r:id="R88a1137ae36a4267"/>
    <p:sldId xmlns:r="http://schemas.openxmlformats.org/officeDocument/2006/relationships" id="261" r:id="R77e4b5fd9bb840df"/>
    <p:sldId xmlns:r="http://schemas.openxmlformats.org/officeDocument/2006/relationships" id="262" r:id="Re57b7d2021994f0e"/>
    <p:sldId xmlns:r="http://schemas.openxmlformats.org/officeDocument/2006/relationships" id="263" r:id="Re7bddcce46614ced"/>
    <p:sldId xmlns:r="http://schemas.openxmlformats.org/officeDocument/2006/relationships" id="264" r:id="R5a2eb9b0364c44c9"/>
    <p:sldId xmlns:r="http://schemas.openxmlformats.org/officeDocument/2006/relationships" id="265" r:id="R895c662efb6748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d9b0f96f84d45" /><Relationship Type="http://schemas.openxmlformats.org/officeDocument/2006/relationships/slideMaster" Target="/ppt/slideMasters/slideMaster1.xml" Id="R117bf9dd33a74c1c" /><Relationship Type="http://schemas.openxmlformats.org/officeDocument/2006/relationships/notesMaster" Target="/ppt/notesMasters/notesMaster1.xml" Id="R9c686e1cae5c4ea2" /><Relationship Type="http://schemas.openxmlformats.org/officeDocument/2006/relationships/presProps" Target="/ppt/presProps.xml" Id="Rfcfd73d011dc4104" /><Relationship Type="http://schemas.openxmlformats.org/officeDocument/2006/relationships/tableStyles" Target="/ppt/tableStyles.xml" Id="Rba616e367cdf4956" /><Relationship Type="http://schemas.openxmlformats.org/officeDocument/2006/relationships/slide" Target="/ppt/slides/slide1.xml" Id="R5abdb551749b45d8" /><Relationship Type="http://schemas.openxmlformats.org/officeDocument/2006/relationships/slide" Target="/ppt/slides/slide2.xml" Id="R9b684ecce0da4d71" /><Relationship Type="http://schemas.openxmlformats.org/officeDocument/2006/relationships/slide" Target="/ppt/slides/slide3.xml" Id="R0358d99a1f18464f" /><Relationship Type="http://schemas.openxmlformats.org/officeDocument/2006/relationships/slide" Target="/ppt/slides/slide4.xml" Id="R36d4e19633b44351" /><Relationship Type="http://schemas.openxmlformats.org/officeDocument/2006/relationships/slide" Target="/ppt/slides/slide5.xml" Id="R88a1137ae36a4267" /><Relationship Type="http://schemas.openxmlformats.org/officeDocument/2006/relationships/slide" Target="/ppt/slides/slide6.xml" Id="R77e4b5fd9bb840df" /><Relationship Type="http://schemas.openxmlformats.org/officeDocument/2006/relationships/slide" Target="/ppt/slides/slide7.xml" Id="Re57b7d2021994f0e" /><Relationship Type="http://schemas.openxmlformats.org/officeDocument/2006/relationships/slide" Target="/ppt/slides/slide8.xml" Id="Re7bddcce46614ced" /><Relationship Type="http://schemas.openxmlformats.org/officeDocument/2006/relationships/slide" Target="/ppt/slides/slide9.xml" Id="R5a2eb9b0364c44c9" /><Relationship Type="http://schemas.openxmlformats.org/officeDocument/2006/relationships/slide" Target="/ppt/slides/slide10.xml" Id="R895c662efb6748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7f9cdb038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f1e0d6ca74656" /><Relationship Type="http://schemas.openxmlformats.org/officeDocument/2006/relationships/notesMaster" Target="/ppt/notesMasters/notesMaster1.xml" Id="R405a8b45d85943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9f8a562824467" /><Relationship Type="http://schemas.openxmlformats.org/officeDocument/2006/relationships/notesMaster" Target="/ppt/notesMasters/notesMaster1.xml" Id="R2e9227fe6ab047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1099b40294166" /><Relationship Type="http://schemas.openxmlformats.org/officeDocument/2006/relationships/notesMaster" Target="/ppt/notesMasters/notesMaster1.xml" Id="R59ab755edb2443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6b7e6f2a604647" /><Relationship Type="http://schemas.openxmlformats.org/officeDocument/2006/relationships/notesMaster" Target="/ppt/notesMasters/notesMaster1.xml" Id="R11e5883c69264c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eb0bdd2d0045c6" /><Relationship Type="http://schemas.openxmlformats.org/officeDocument/2006/relationships/notesMaster" Target="/ppt/notesMasters/notesMaster1.xml" Id="R9da928e76aba44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adbdd5be104e0c" /><Relationship Type="http://schemas.openxmlformats.org/officeDocument/2006/relationships/notesMaster" Target="/ppt/notesMasters/notesMaster1.xml" Id="R111975e176ef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b91ee53dbb4d36" /><Relationship Type="http://schemas.openxmlformats.org/officeDocument/2006/relationships/notesMaster" Target="/ppt/notesMasters/notesMaster1.xml" Id="Rb431a8652e8c49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3467c54f14289" /><Relationship Type="http://schemas.openxmlformats.org/officeDocument/2006/relationships/notesMaster" Target="/ppt/notesMasters/notesMaster1.xml" Id="Rac8d9aa9d68a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78717d6fff4d05" /><Relationship Type="http://schemas.openxmlformats.org/officeDocument/2006/relationships/notesMaster" Target="/ppt/notesMasters/notesMaster1.xml" Id="Ree64973dbce746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bda36f2bea491e" /><Relationship Type="http://schemas.openxmlformats.org/officeDocument/2006/relationships/notesMaster" Target="/ppt/notesMasters/notesMaster1.xml" Id="Rc8f3f8374ee9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확정 방향은 지도 중심 역사 경험, 선사시대 시작, 역사·지리의 자연스러운 학습과 사실·가정 구분이다. 상세 규칙은 후속 협의한다.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경험의 방향이다. 국가 운영·영토 확장·자원 관리·생존 RPG를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출처: Natural Earth ne_50m_land.geojson https://github.com/nvkelso/natural-earth-vector/blob/master/geojson/ne_50m_land.geojson / 이용 조건 https://www.naturalearthdata.com/about/terms-of-use/ . 현대 육지 자료를 120~135E,32~44N으로 자른 Mercator 투영 참고도이며 역사적 경계나 선사시대 지형이 아니다. 원본 SVG 도형을 유지하고 색상만 밝은 문서 테마로 조정했다.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편집 가능한 경험 개념도이며 확정 게임 루프가 아니다. 지도 클릭이나 시대 버튼만으로 게임이 완성된다고 가정하지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교육적 설계 목표이며 학습 효과를 실증한 결과가 아니다. 정보 열람 방식과 플레이 조작은 미확정이다.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docs/synopsis-v0.1-handover.md, docs/synopsis-v0.1.md, docs/decision-register-v0.1.md 및 사용자 대화. 2026-10-29 발표자료 개편. 최신 기준과 기존 상세안을 구분한다. 2.5D 1안은 우선 검토 방향이며 최종 확정은 아니다.</a:t>
            </a:r>
          </a:p>
          <a:p xmlns:a="http://schemas.openxmlformats.org/drawingml/2006/main">
            <a:r>
              <a:t>2026-10-29 사용자 대화에서 2.5D 1안을 선호한다고 표현했다. 우선 검토 방향이며 최종 확정은 아니다. 기획·설계와 전체 진행 관리는 팀장 역할로 담당하고 큰 방향은 사용자와 협의한다. Node.js는 서버 필요성 결정 후 검토하며 엔진·저장·멀티플레이는 미확정이다. Figma https://www.figma.com/design/zkbflw9fCdAlWbphhw5pSS 는 구조 초안이다.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053b8f7b34f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8e41859ae4d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f5bef281543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8190edf5d44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4c6394f3e4c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36f723d11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2B2068-0CCF-440B-A4F4-CA6118C964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64A565-0B0C-4F3D-8813-233530E068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8C6D43-F13F-4061-AFDB-C9988563D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C3E693-8E47-467B-A084-6242A6E1C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685F64-3923-4C04-9DC5-9E5544286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70D2AA-7A2E-49A4-8099-F3BBE388D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560B72-E497-48EA-A56A-5AAA30997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C7C3D1-BA5E-43D9-BC1C-1D4E633C8D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C2BF8F-44DD-4853-A449-F6408D81F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BACBB4-133E-4CDD-8058-951B68BB5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988e9629bb4f93" /><Relationship Type="http://schemas.openxmlformats.org/officeDocument/2006/relationships/slideLayout" Target="/ppt/slideLayouts/slideLayout1.xml" Id="R2d385b4560d04923" /><Relationship Type="http://schemas.openxmlformats.org/officeDocument/2006/relationships/slideLayout" Target="/ppt/slideLayouts/slideLayout2.xml" Id="R5e353670a0f34cba" /><Relationship Type="http://schemas.openxmlformats.org/officeDocument/2006/relationships/slideLayout" Target="/ppt/slideLayouts/slideLayout3.xml" Id="R034a479c4faa4ed0" /><Relationship Type="http://schemas.openxmlformats.org/officeDocument/2006/relationships/slideLayout" Target="/ppt/slideLayouts/slideLayout4.xml" Id="Rafd4b6b9936d4bee" /><Relationship Type="http://schemas.openxmlformats.org/officeDocument/2006/relationships/slideLayout" Target="/ppt/slideLayouts/slideLayout5.xml" Id="Rfc5ba582e19e4925" /><Relationship Type="http://schemas.openxmlformats.org/officeDocument/2006/relationships/slideLayout" Target="/ppt/slideLayouts/slideLayout6.xml" Id="R35e245e153b4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85b4560d04923"/>
    <p:sldLayoutId xmlns:r="http://schemas.openxmlformats.org/officeDocument/2006/relationships" id="2147483650" r:id="R5e353670a0f34cba"/>
    <p:sldLayoutId xmlns:r="http://schemas.openxmlformats.org/officeDocument/2006/relationships" id="2147483651" r:id="R034a479c4faa4ed0"/>
    <p:sldLayoutId xmlns:r="http://schemas.openxmlformats.org/officeDocument/2006/relationships" id="2147483652" r:id="Rafd4b6b9936d4bee"/>
    <p:sldLayoutId xmlns:r="http://schemas.openxmlformats.org/officeDocument/2006/relationships" id="2147483653" r:id="Rfc5ba582e19e4925"/>
    <p:sldLayoutId xmlns:r="http://schemas.openxmlformats.org/officeDocument/2006/relationships" id="2147483654" r:id="R35e245e153b4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8a8e4e4e64d3c" /><Relationship Type="http://schemas.openxmlformats.org/officeDocument/2006/relationships/notesSlide" Target="/ppt/notesSlides/notesSlide1.xml" Id="R5b038b9a8302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cf3964e484d2e" /><Relationship Type="http://schemas.openxmlformats.org/officeDocument/2006/relationships/notesSlide" Target="/ppt/notesSlides/notesSlide2.xml" Id="Rc6c149b9cca842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e1e7661ec4ae4" /><Relationship Type="http://schemas.openxmlformats.org/officeDocument/2006/relationships/notesSlide" Target="/ppt/notesSlides/notesSlide3.xml" Id="Ra1217a280518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c6d4d030646eb" /><Relationship Type="http://schemas.openxmlformats.org/officeDocument/2006/relationships/image" Target="/ppt/media/image.png" Id="R88a88682d9b345d3" /><Relationship Type="http://schemas.openxmlformats.org/officeDocument/2006/relationships/image" Target="/ppt/media/image.svg" Id="R097be6402a9d4817" /><Relationship Type="http://schemas.openxmlformats.org/officeDocument/2006/relationships/notesSlide" Target="/ppt/notesSlides/notesSlide4.xml" Id="R21b74c7d20584f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5c5e2a185470c" /><Relationship Type="http://schemas.openxmlformats.org/officeDocument/2006/relationships/notesSlide" Target="/ppt/notesSlides/notesSlide5.xml" Id="R4db87dcd178249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ff103c9674844" /><Relationship Type="http://schemas.openxmlformats.org/officeDocument/2006/relationships/notesSlide" Target="/ppt/notesSlides/notesSlide6.xml" Id="R117778e478e147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f090ad4f34003" /><Relationship Type="http://schemas.openxmlformats.org/officeDocument/2006/relationships/notesSlide" Target="/ppt/notesSlides/notesSlide7.xml" Id="Rf7e5da9a0ad143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05e7c5bd64dfd" /><Relationship Type="http://schemas.openxmlformats.org/officeDocument/2006/relationships/notesSlide" Target="/ppt/notesSlides/notesSlide8.xml" Id="Rb7e8ec046ee042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3d624ce7649ac" /><Relationship Type="http://schemas.openxmlformats.org/officeDocument/2006/relationships/notesSlide" Target="/ppt/notesSlides/notesSlide9.xml" Id="R26a2c2ffca4e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3e2773ce04e66" /><Relationship Type="http://schemas.openxmlformats.org/officeDocument/2006/relationships/notesSlide" Target="/ppt/notesSlides/notesSlide10.xml" Id="R3375aa1f3be14f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08F0DA-FEFF-4A3C-B86E-308B6C76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A8D3E7C9-E678-4C7C-A5D1-CB0B9E03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3BD405E-6593-4BF7-A4B2-4F2EE6E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79B478E5-CCFA-4A58-8991-724DCE9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RoxHistory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418E7F-82E4-4231-9C88-F3D1728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지도에서 만나는</a:t>
            </a:r>
          </a:p>
          <a:p xmlns:a="http://schemas.openxmlformats.org/drawingml/2006/main">
            <a:pPr>
              <a:def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한국 역사의 흐름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E9E2E17-7034-41BE-9940-1ECA038F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게임을 즐기며 시대의 변화와 한국 지리를 이해하는 경험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7AD4638-3221-4E5F-8BD8-52F5A7F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기획 방향 v0.1  /  인수인계 정합본</a:t>
            </a:r>
          </a:p>
        </p:txBody>
      </p:sp>
    </p:spTree>
    <p:extLst>
      <p:ext uri="{BB962C8B-B14F-4D97-AF65-F5344CB8AC3E}">
        <p14:creationId xmlns:p14="http://schemas.microsoft.com/office/powerpoint/2010/main" val="713369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4B11A8F-FB6E-4DF0-8B0F-E9F22AA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누구를 위한 게임인가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4455CF-3C53-4BD3-BEBA-62136C6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세부 암기보다 시대와 지역의 관계를 이해하는 경험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C5359C-45C1-4659-96AE-BEA9891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9CA8FEA-A2CB-4AF1-B5C4-71AC722F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F971E7-1B51-4C00-A9B3-51F6471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A9B45-BD94-476A-A787-CD29DBC8A4B8}"/>
              </a:ext>
            </a:extLst>
          </p:cNvPr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534150"/>
              </a:tblGrid>
              <a:tr h="7572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사용자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기대하는 경험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중·고등학생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배우는 한국사의 큰 흐름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역사를 다시 배우는 성인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나라, 시대, 지역을 연결하는 이해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역사·지리에 관심 있는 사용자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지도와 변화로 이어지는 역사 경험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E1A926D8-315C-49CC-8108-68CDF9A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역사 지식이 부족해도 쉽게 시작할 수 있도록</a:t>
            </a:r>
          </a:p>
        </p:txBody>
      </p:sp>
    </p:spTree>
    <p:extLst>
      <p:ext uri="{BB962C8B-B14F-4D97-AF65-F5344CB8AC3E}">
        <p14:creationId xmlns:p14="http://schemas.microsoft.com/office/powerpoint/2010/main" val="275259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5F7262ED-DF85-48DD-B7CC-F9C9C7E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게임을 연결하는 세 가지 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A54E25-655C-43E4-A159-0C4D82AE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지도, 시간, 플레이를 하나의 역사 경험으로 연결한다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3887C8-6029-4410-BA9C-A6A16E9E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990404-8EE5-4B70-9322-4FBBC23D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92CD843-897B-4AF3-89BF-4766EDB7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concept-n-0">
            <a:extLst xmlns:a="http://schemas.openxmlformats.org/drawingml/2006/main">
              <a:ext uri="{FF2B5EF4-FFF2-40B4-BE49-F238E27FC236}">
                <a16:creationId xmlns:a16="http://schemas.microsoft.com/office/drawing/2014/main" id="{81E3EDE1-9262-4CF0-92FA-E9479FCF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4A0EA887-CA5E-4CA7-952F-EB5BF39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지도</a:t>
            </a:r>
          </a:p>
        </p:txBody>
      </p:sp>
      <p:sp>
        <p:nvSpPr>
          <p:cNvPr id="8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28D50907-170F-4A48-A179-3524DBC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한반도와 주변 지역</a:t>
            </a:r>
          </a:p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지역과 장소를 연결</a:t>
            </a:r>
          </a:p>
        </p:txBody>
      </p:sp>
      <p:sp>
        <p:nvSpPr>
          <p:cNvPr id="9" name="concept-n-1">
            <a:extLst xmlns:a="http://schemas.openxmlformats.org/drawingml/2006/main">
              <a:ext uri="{FF2B5EF4-FFF2-40B4-BE49-F238E27FC236}">
                <a16:creationId xmlns:a16="http://schemas.microsoft.com/office/drawing/2014/main" id="{E8C90B09-C903-41DE-BE11-D22A6F6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28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CDF7F7B5-9C5E-444F-9DDC-746B55D7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C343F45D-7066-4DDA-B23D-AEE93D58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430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선사시대부터 주요 시대까지</a:t>
            </a:r>
          </a:p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국가와 세력의 변화</a:t>
            </a:r>
          </a:p>
        </p:txBody>
      </p:sp>
      <p:sp>
        <p:nvSpPr>
          <p:cNvPr id="12" name="concept-n-2">
            <a:extLst xmlns:a="http://schemas.openxmlformats.org/drawingml/2006/main">
              <a:ext uri="{FF2B5EF4-FFF2-40B4-BE49-F238E27FC236}">
                <a16:creationId xmlns:a16="http://schemas.microsoft.com/office/drawing/2014/main" id="{713F9084-2B6E-43AA-BA98-9A69D1A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D57AFF87-9BC4-4C89-8510-9FF799D6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플레이</a:t>
            </a:r>
          </a:p>
        </p:txBody>
      </p:sp>
      <p:sp>
        <p:nvSpPr>
          <p:cNvPr id="14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F5831E5F-414E-413B-B163-E0C94B4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재미를 경험하는 과정</a:t>
            </a:r>
          </a:p>
          <a:p xmlns:a="http://schemas.openxmlformats.org/drawingml/2006/main">
            <a:pPr>
              <a:def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역사와 지리의 맥락</a:t>
            </a:r>
          </a:p>
        </p:txBody>
      </p:sp>
    </p:spTree>
    <p:extLst>
      <p:ext uri="{BB962C8B-B14F-4D97-AF65-F5344CB8AC3E}">
        <p14:creationId xmlns:p14="http://schemas.microsoft.com/office/powerpoint/2010/main" val="979527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ED476536-6CF5-48E5-AA7A-983CFA24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같은 장소에서 달라지는 역사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116AD0-D09F-43F3-AE3C-DE92CC6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지도는 시대가 바뀌어도 경험을 이어 주는 중심 화면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8A5E868-8AF3-4BBA-B7EF-F579677B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F79AF46-B4E7-486B-8C34-30BC24BC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C17E12-D963-436F-8AEC-388EF69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349BD-250E-42FA-B294-AE1A09BE2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88682d9b345d3">
            <a:extLst>
              <a:ext uri="{96DAC541-7B7A-43D3-8B79-37D633B846F1}">
                <asvg:svgBlip xmlns:asvg="http://schemas.microsoft.com/office/drawing/2016/SVG/main" r:embed="R097be6402a9d48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057400"/>
            <a:ext cx="53721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map-title-0">
            <a:extLst xmlns:a="http://schemas.openxmlformats.org/drawingml/2006/main">
              <a:ext uri="{FF2B5EF4-FFF2-40B4-BE49-F238E27FC236}">
                <a16:creationId xmlns:a16="http://schemas.microsoft.com/office/drawing/2014/main" id="{E05A037A-AE52-49C9-8A72-09C1A84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1932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국가와 세력</a:t>
            </a:r>
          </a:p>
        </p:txBody>
      </p:sp>
      <p:sp>
        <p:nvSpPr>
          <p:cNvPr id="8" name="map-body-0">
            <a:extLst xmlns:a="http://schemas.openxmlformats.org/drawingml/2006/main">
              <a:ext uri="{FF2B5EF4-FFF2-40B4-BE49-F238E27FC236}">
                <a16:creationId xmlns:a16="http://schemas.microsoft.com/office/drawing/2014/main" id="{4B07A8C7-1E77-47CA-A68E-D5ED043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등장, 발전, 소멸과 관계</a:t>
            </a:r>
          </a:p>
        </p:txBody>
      </p:sp>
      <p:sp>
        <p:nvSpPr>
          <p:cNvPr id="9" name="map-title-1">
            <a:extLst xmlns:a="http://schemas.openxmlformats.org/drawingml/2006/main">
              <a:ext uri="{FF2B5EF4-FFF2-40B4-BE49-F238E27FC236}">
                <a16:creationId xmlns:a16="http://schemas.microsoft.com/office/drawing/2014/main" id="{120FF307-829C-4A86-9EDC-5D19224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지형과 장소</a:t>
            </a:r>
          </a:p>
        </p:txBody>
      </p:sp>
      <p:sp>
        <p:nvSpPr>
          <p:cNvPr id="10" name="map-body-1">
            <a:extLst xmlns:a="http://schemas.openxmlformats.org/drawingml/2006/main">
              <a:ext uri="{FF2B5EF4-FFF2-40B4-BE49-F238E27FC236}">
                <a16:creationId xmlns:a16="http://schemas.microsoft.com/office/drawing/2014/main" id="{37791E58-D79B-4E5E-AE60-A388C48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지역의 위치와 지리적 맥락</a:t>
            </a:r>
          </a:p>
        </p:txBody>
      </p:sp>
      <p:sp>
        <p:nvSpPr>
          <p:cNvPr id="11" name="map-title-2">
            <a:extLst xmlns:a="http://schemas.openxmlformats.org/drawingml/2006/main">
              <a:ext uri="{FF2B5EF4-FFF2-40B4-BE49-F238E27FC236}">
                <a16:creationId xmlns:a16="http://schemas.microsoft.com/office/drawing/2014/main" id="{3FB11BA9-C67F-4BFA-96EC-8DF3C8D6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8152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사건과 변화</a:t>
            </a:r>
          </a:p>
        </p:txBody>
      </p:sp>
      <p:sp>
        <p:nvSpPr>
          <p:cNvPr id="12" name="map-body-2">
            <a:extLst xmlns:a="http://schemas.openxmlformats.org/drawingml/2006/main">
              <a:ext uri="{FF2B5EF4-FFF2-40B4-BE49-F238E27FC236}">
                <a16:creationId xmlns:a16="http://schemas.microsoft.com/office/drawing/2014/main" id="{9C16420E-6F84-41F8-B081-9C0CD93D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863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시점에 따라 달라지는 지도</a:t>
            </a:r>
          </a:p>
        </p:txBody>
      </p:sp>
      <p:sp>
        <p:nvSpPr>
          <p:cNvPr id="13" name="map-disclosure">
            <a:extLst xmlns:a="http://schemas.openxmlformats.org/drawingml/2006/main">
              <a:ext uri="{FF2B5EF4-FFF2-40B4-BE49-F238E27FC236}">
                <a16:creationId xmlns:a16="http://schemas.microsoft.com/office/drawing/2014/main" id="{87DE89BA-6960-4AA0-9DE8-06AB0933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현대 해안선 참고도. 시대별 지형과 영역은 후속 고증</a:t>
            </a:r>
          </a:p>
        </p:txBody>
      </p:sp>
    </p:spTree>
    <p:extLst>
      <p:ext uri="{BB962C8B-B14F-4D97-AF65-F5344CB8AC3E}">
        <p14:creationId xmlns:p14="http://schemas.microsoft.com/office/powerpoint/2010/main" val="512389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244467FF-DAF4-4D7E-A51A-4642F77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선사시대부터 현대까지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817544-0A4F-4B1D-80F2-82F3094A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전체 흐름을 이해하기 위한 잠정 시대 구분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9C1942-D469-442D-9F13-F551BC32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9F109E6-9941-461B-A24F-2946B14D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B1D215C-0068-4F87-B600-EE78C6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era-n-0">
            <a:extLst xmlns:a="http://schemas.openxmlformats.org/drawingml/2006/main">
              <a:ext uri="{FF2B5EF4-FFF2-40B4-BE49-F238E27FC236}">
                <a16:creationId xmlns:a16="http://schemas.microsoft.com/office/drawing/2014/main" id="{96CCB5A9-235E-443F-960D-37D4982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era-0">
            <a:extLst xmlns:a="http://schemas.openxmlformats.org/drawingml/2006/main">
              <a:ext uri="{FF2B5EF4-FFF2-40B4-BE49-F238E27FC236}">
                <a16:creationId xmlns:a16="http://schemas.microsoft.com/office/drawing/2014/main" id="{6A044064-B485-4265-AB72-24D5152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050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선사시대</a:t>
            </a:r>
          </a:p>
        </p:txBody>
      </p:sp>
      <p:sp>
        <p:nvSpPr>
          <p:cNvPr id="8" name="era-n-1">
            <a:extLst xmlns:a="http://schemas.openxmlformats.org/drawingml/2006/main">
              <a:ext uri="{FF2B5EF4-FFF2-40B4-BE49-F238E27FC236}">
                <a16:creationId xmlns:a16="http://schemas.microsoft.com/office/drawing/2014/main" id="{CC51545A-A0A9-4A47-A511-10AC5BE3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era-1">
            <a:extLst xmlns:a="http://schemas.openxmlformats.org/drawingml/2006/main">
              <a:ext uri="{FF2B5EF4-FFF2-40B4-BE49-F238E27FC236}">
                <a16:creationId xmlns:a16="http://schemas.microsoft.com/office/drawing/2014/main" id="{BB220BFA-EC95-43B8-A34D-A156AFC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고조선과 초기 국가</a:t>
            </a:r>
          </a:p>
        </p:txBody>
      </p:sp>
      <p:sp>
        <p:nvSpPr>
          <p:cNvPr id="10" name="era-n-2">
            <a:extLst xmlns:a="http://schemas.openxmlformats.org/drawingml/2006/main">
              <a:ext uri="{FF2B5EF4-FFF2-40B4-BE49-F238E27FC236}">
                <a16:creationId xmlns:a16="http://schemas.microsoft.com/office/drawing/2014/main" id="{7B9FCA11-0BBB-4299-BBBC-D883D77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era-2">
            <a:extLst xmlns:a="http://schemas.openxmlformats.org/drawingml/2006/main">
              <a:ext uri="{FF2B5EF4-FFF2-40B4-BE49-F238E27FC236}">
                <a16:creationId xmlns:a16="http://schemas.microsoft.com/office/drawing/2014/main" id="{A91EBE14-4DA3-4324-BC5B-A37272A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삼국시대 및 가야</a:t>
            </a:r>
          </a:p>
        </p:txBody>
      </p:sp>
      <p:sp>
        <p:nvSpPr>
          <p:cNvPr id="12" name="era-n-3">
            <a:extLst xmlns:a="http://schemas.openxmlformats.org/drawingml/2006/main">
              <a:ext uri="{FF2B5EF4-FFF2-40B4-BE49-F238E27FC236}">
                <a16:creationId xmlns:a16="http://schemas.microsoft.com/office/drawing/2014/main" id="{98C61A9E-A45A-4510-9DDB-E81CD34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era-3">
            <a:extLst xmlns:a="http://schemas.openxmlformats.org/drawingml/2006/main">
              <a:ext uri="{FF2B5EF4-FFF2-40B4-BE49-F238E27FC236}">
                <a16:creationId xmlns:a16="http://schemas.microsoft.com/office/drawing/2014/main" id="{9BE15D93-2B09-41F9-9922-B2FDFA5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남북국시대</a:t>
            </a:r>
          </a:p>
        </p:txBody>
      </p:sp>
      <p:sp>
        <p:nvSpPr>
          <p:cNvPr id="14" name="era-n-4">
            <a:extLst xmlns:a="http://schemas.openxmlformats.org/drawingml/2006/main">
              <a:ext uri="{FF2B5EF4-FFF2-40B4-BE49-F238E27FC236}">
                <a16:creationId xmlns:a16="http://schemas.microsoft.com/office/drawing/2014/main" id="{63220566-61BC-4AE2-ADFF-74B92DA5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240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era-4">
            <a:extLst xmlns:a="http://schemas.openxmlformats.org/drawingml/2006/main">
              <a:ext uri="{FF2B5EF4-FFF2-40B4-BE49-F238E27FC236}">
                <a16:creationId xmlns:a16="http://schemas.microsoft.com/office/drawing/2014/main" id="{6765FCAA-C46F-4902-B719-472EDD3F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050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후삼국과 고려</a:t>
            </a:r>
          </a:p>
        </p:txBody>
      </p:sp>
      <p:sp>
        <p:nvSpPr>
          <p:cNvPr id="16" name="era-n-5">
            <a:extLst xmlns:a="http://schemas.openxmlformats.org/drawingml/2006/main">
              <a:ext uri="{FF2B5EF4-FFF2-40B4-BE49-F238E27FC236}">
                <a16:creationId xmlns:a16="http://schemas.microsoft.com/office/drawing/2014/main" id="{E4A06C6C-2C81-430E-A204-A1AB0CB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7" name="era-5">
            <a:extLst xmlns:a="http://schemas.openxmlformats.org/drawingml/2006/main">
              <a:ext uri="{FF2B5EF4-FFF2-40B4-BE49-F238E27FC236}">
                <a16:creationId xmlns:a16="http://schemas.microsoft.com/office/drawing/2014/main" id="{45F9CDFE-CDCA-48FD-B645-D104339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조선</a:t>
            </a:r>
          </a:p>
        </p:txBody>
      </p:sp>
      <p:sp>
        <p:nvSpPr>
          <p:cNvPr id="18" name="era-n-6">
            <a:extLst xmlns:a="http://schemas.openxmlformats.org/drawingml/2006/main">
              <a:ext uri="{FF2B5EF4-FFF2-40B4-BE49-F238E27FC236}">
                <a16:creationId xmlns:a16="http://schemas.microsoft.com/office/drawing/2014/main" id="{6FD14C5B-D1C2-42AD-AA85-FEDE44F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9" name="era-6">
            <a:extLst xmlns:a="http://schemas.openxmlformats.org/drawingml/2006/main">
              <a:ext uri="{FF2B5EF4-FFF2-40B4-BE49-F238E27FC236}">
                <a16:creationId xmlns:a16="http://schemas.microsoft.com/office/drawing/2014/main" id="{59DA861C-DE9B-4E23-BD21-11B0F6B7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근대 및 일제강점기</a:t>
            </a:r>
          </a:p>
        </p:txBody>
      </p:sp>
      <p:sp>
        <p:nvSpPr>
          <p:cNvPr id="20" name="era-n-7">
            <a:extLst xmlns:a="http://schemas.openxmlformats.org/drawingml/2006/main">
              <a:ext uri="{FF2B5EF4-FFF2-40B4-BE49-F238E27FC236}">
                <a16:creationId xmlns:a16="http://schemas.microsoft.com/office/drawing/2014/main" id="{5A7E52B3-0973-488F-B5DA-F9E28933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1" name="era-7">
            <a:extLst xmlns:a="http://schemas.openxmlformats.org/drawingml/2006/main">
              <a:ext uri="{FF2B5EF4-FFF2-40B4-BE49-F238E27FC236}">
                <a16:creationId xmlns:a16="http://schemas.microsoft.com/office/drawing/2014/main" id="{095276CD-DA81-4809-B906-9C82C072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053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현대 대한민국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23C18FF2-85B7-445D-B274-01A0D962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실제 장 수, 분량과 시대 진행 조건은 다음 설계에서 결정</a:t>
            </a:r>
          </a:p>
        </p:txBody>
      </p:sp>
    </p:spTree>
    <p:extLst>
      <p:ext uri="{BB962C8B-B14F-4D97-AF65-F5344CB8AC3E}">
        <p14:creationId xmlns:p14="http://schemas.microsoft.com/office/powerpoint/2010/main" val="2011542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0E1E7-7D26-4DD8-9778-24B33B1FE40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05850" y="3181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A563E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190F0-5448-47CE-8325-7CB72CD9C18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181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A563E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6CD29-7035-4411-B8DD-B9DA619988E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05150" y="3181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A563E"/>
            </a:solidFill>
            <a:prstDash val="solid"/>
            <a:tailEnd type="triangle" w="med" len="med"/>
          </a:ln>
        </p:spPr>
      </p:cxn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4465E174-B85D-43C7-BD4D-43F895D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플레이어에게 남길 경험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14FD16-75C6-4C2E-AAA7-649AA513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같은 공간에서 이어지는 변화를 이해한다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690A74-1D3B-4039-B2EB-2D89ECD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71B0848-98D0-4CFA-9AF9-E6850AE8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93EB3E-3C49-4E41-BECE-D6986D0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97E0ED8-9931-4E99-8416-9FF4B99D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55A73D67-14ED-4A9D-B543-B452B704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지역을 이해</a:t>
            </a:r>
          </a:p>
        </p:txBody>
      </p:sp>
      <p:sp>
        <p:nvSpPr>
          <p:cNvPr id="8" name="step-detail-0">
            <a:extLst xmlns:a="http://schemas.openxmlformats.org/drawingml/2006/main">
              <a:ext uri="{FF2B5EF4-FFF2-40B4-BE49-F238E27FC236}">
                <a16:creationId xmlns:a16="http://schemas.microsoft.com/office/drawing/2014/main" id="{13A70155-4C25-4919-AEC9-31D0021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어디에 있는가</a:t>
            </a:r>
          </a:p>
        </p:txBody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ECA4948-46B7-4459-94D8-ACEBD8C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flow-1">
            <a:extLst xmlns:a="http://schemas.openxmlformats.org/drawingml/2006/main">
              <a:ext uri="{FF2B5EF4-FFF2-40B4-BE49-F238E27FC236}">
                <a16:creationId xmlns:a16="http://schemas.microsoft.com/office/drawing/2014/main" id="{CBCAC8A9-CF15-4C5F-889E-A0D3B27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관계를 파악</a:t>
            </a:r>
          </a:p>
        </p:txBody>
      </p:sp>
      <p:sp>
        <p:nvSpPr>
          <p:cNvPr id="11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778418FF-8B18-483D-8E89-2A5CD61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무엇과 연결되는가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FC7631D8-1D18-4E7E-A31F-3A2BFBF6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1447E243-A22F-4D94-AD48-3E49700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변화를 체험</a:t>
            </a:r>
          </a:p>
        </p:txBody>
      </p:sp>
      <p:sp>
        <p:nvSpPr>
          <p:cNvPr id="14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B47D2629-DB31-484A-86A6-93F2E0F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무엇이 달라졌는가</a:t>
            </a:r>
          </a:p>
        </p:txBody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4436A9C-3B49-4EB8-98B6-27692461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84DA5B25-2148-443F-A475-85D08A4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흐름을 연결</a:t>
            </a:r>
          </a:p>
        </p:txBody>
      </p:sp>
      <p:sp>
        <p:nvSpPr>
          <p:cNvPr id="17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5C30F19D-11CA-409A-860F-ABDA3D1F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419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앞뒤 시대의 관계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7012BFC7-B0C8-4BBB-90C7-6B63976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반복해서 하고 싶은 행동과 보상 구조를 먼저 구체화</a:t>
            </a:r>
          </a:p>
        </p:txBody>
      </p:sp>
    </p:spTree>
    <p:extLst>
      <p:ext uri="{BB962C8B-B14F-4D97-AF65-F5344CB8AC3E}">
        <p14:creationId xmlns:p14="http://schemas.microsoft.com/office/powerpoint/2010/main" val="554659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A9FA29A-2E26-486F-80FC-7C74E9F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플레이 속에 남는 역사와 지리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0947D5-DFFE-40A4-AE3A-8A592629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맥락에 필요한 핵심부터 짧게 전달한다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0E2995B-EE44-4336-ABA2-0B526245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669D89C-907D-4B39-AEB8-E6A903B8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80BE1E-FA3A-4051-8690-80B4B5D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AF9AD-CEC7-4DA0-8D95-725D319DE26E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391150"/>
              </a:tblGrid>
              <a:tr h="6553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플레이에서 접하는 변화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자연스럽게 이해할 맥락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지역과 장소를 지도에서 접한다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위치와 주변 지리의 관계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국가와 세력의 변화를 본다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국가의 등장, 발전과 세력 관계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사건과 장소를 연결한다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어디에서 무엇이 달라졌는지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앞뒤 시대의 지도를 비교한다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시대의 순서와 큰 전환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1A771F03-9818-429A-89B8-F6A41C4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상세 정보의 양과 열람 방식은 플레이 흐름에 맞춰 검토</a:t>
            </a:r>
          </a:p>
        </p:txBody>
      </p:sp>
    </p:spTree>
    <p:extLst>
      <p:ext uri="{BB962C8B-B14F-4D97-AF65-F5344CB8AC3E}">
        <p14:creationId xmlns:p14="http://schemas.microsoft.com/office/powerpoint/2010/main" val="1917658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A0C9F79B-9577-4E89-B2F5-E695E27B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역사적 사실과 게임적 가정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4E918B-B5F9-4DFA-8C0C-EFF54AF7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확인된 사실, 해석과 불확실성, 게임 창작을 구분한다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AFDD23-D206-43C9-A5D0-F02C7C2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B85D90-0105-416E-841B-6CE3C46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1FF3B4-2154-4550-9194-415EF41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history-title">
            <a:extLst xmlns:a="http://schemas.openxmlformats.org/drawingml/2006/main">
              <a:ext uri="{FF2B5EF4-FFF2-40B4-BE49-F238E27FC236}">
                <a16:creationId xmlns:a16="http://schemas.microsoft.com/office/drawing/2014/main" id="{5003D3D1-37E1-4446-B1DB-8BFE7B9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역사 자료의 기준</a:t>
            </a:r>
          </a:p>
        </p:txBody>
      </p:sp>
      <p:sp>
        <p:nvSpPr>
          <p:cNvPr id="7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AD77D3BE-BC48-471E-9F13-F2AF98A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게임 설계의 기준</a:t>
            </a:r>
          </a:p>
        </p:txBody>
      </p:sp>
      <p:sp>
        <p:nvSpPr>
          <p:cNvPr id="8" name="history-0">
            <a:extLst xmlns:a="http://schemas.openxmlformats.org/drawingml/2006/main">
              <a:ext uri="{FF2B5EF4-FFF2-40B4-BE49-F238E27FC236}">
                <a16:creationId xmlns:a16="http://schemas.microsoft.com/office/drawing/2014/main" id="{15A4004C-7606-4ABF-895D-492D2425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시점과 출처를 함께 관리</a:t>
            </a:r>
          </a:p>
        </p:txBody>
      </p:sp>
      <p:sp>
        <p:nvSpPr>
          <p:cNvPr id="9" name="history-1">
            <a:extLst xmlns:a="http://schemas.openxmlformats.org/drawingml/2006/main">
              <a:ext uri="{FF2B5EF4-FFF2-40B4-BE49-F238E27FC236}">
                <a16:creationId xmlns:a16="http://schemas.microsoft.com/office/drawing/2014/main" id="{F651B660-DD26-46C9-B9AC-0DA911B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영토, 영향권, 문화권을 구분</a:t>
            </a:r>
          </a:p>
        </p:txBody>
      </p:sp>
      <p:sp>
        <p:nvSpPr>
          <p:cNvPr id="10" name="history-2">
            <a:extLst xmlns:a="http://schemas.openxmlformats.org/drawingml/2006/main">
              <a:ext uri="{FF2B5EF4-FFF2-40B4-BE49-F238E27FC236}">
                <a16:creationId xmlns:a16="http://schemas.microsoft.com/office/drawing/2014/main" id="{A887C840-1657-4FFE-9946-36DF7084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논쟁과 불확실성을 표시</a:t>
            </a:r>
          </a:p>
        </p:txBody>
      </p:sp>
      <p:sp>
        <p:nvSpPr>
          <p:cNvPr id="11" name="history-3">
            <a:extLst xmlns:a="http://schemas.openxmlformats.org/drawingml/2006/main">
              <a:ext uri="{FF2B5EF4-FFF2-40B4-BE49-F238E27FC236}">
                <a16:creationId xmlns:a16="http://schemas.microsoft.com/office/drawing/2014/main" id="{0DDDDAF2-5F05-44ED-AC42-B0B0B405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시대별 지형과 정치 변화 검토</a:t>
            </a:r>
          </a:p>
        </p:txBody>
      </p:sp>
      <p:sp>
        <p:nvSpPr>
          <p:cNvPr id="12" name="fiction-0">
            <a:extLst xmlns:a="http://schemas.openxmlformats.org/drawingml/2006/main">
              <a:ext uri="{FF2B5EF4-FFF2-40B4-BE49-F238E27FC236}">
                <a16:creationId xmlns:a16="http://schemas.microsoft.com/office/drawing/2014/main" id="{03F4A44D-E4A6-48B0-9690-D9FAD3A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확인된 사실과 가정을 구분</a:t>
            </a:r>
          </a:p>
        </p:txBody>
      </p:sp>
      <p:sp>
        <p:nvSpPr>
          <p:cNvPr id="13" name="fiction-1">
            <a:extLst xmlns:a="http://schemas.openxmlformats.org/drawingml/2006/main">
              <a:ext uri="{FF2B5EF4-FFF2-40B4-BE49-F238E27FC236}">
                <a16:creationId xmlns:a16="http://schemas.microsoft.com/office/drawing/2014/main" id="{C4BE72E7-7883-49AD-97D3-A20158F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가상 전개를 실제 역사와 구별</a:t>
            </a:r>
          </a:p>
        </p:txBody>
      </p:sp>
      <p:sp>
        <p:nvSpPr>
          <p:cNvPr id="14" name="fiction-2">
            <a:extLst xmlns:a="http://schemas.openxmlformats.org/drawingml/2006/main">
              <a:ext uri="{FF2B5EF4-FFF2-40B4-BE49-F238E27FC236}">
                <a16:creationId xmlns:a16="http://schemas.microsoft.com/office/drawing/2014/main" id="{573048F6-0469-46C0-8E6B-5FCA8B02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설명보다 맥락과 경험을 우선</a:t>
            </a:r>
          </a:p>
        </p:txBody>
      </p:sp>
      <p:sp>
        <p:nvSpPr>
          <p:cNvPr id="15" name="fiction-3">
            <a:extLst xmlns:a="http://schemas.openxmlformats.org/drawingml/2006/main">
              <a:ext uri="{FF2B5EF4-FFF2-40B4-BE49-F238E27FC236}">
                <a16:creationId xmlns:a16="http://schemas.microsoft.com/office/drawing/2014/main" id="{DDD44B88-60E7-4407-8451-BE2D9BD1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분기와 선택 규칙은 미확정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EB0A2819-4BF2-45A6-9FA2-6B3D42B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고증 전의 영토 도형을 확정된 역사 지도처럼 사용하지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2078791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274C2FA-9D3E-4077-9A85-BE2AA58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이전 상세안에서 이어서 검토할 것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0BA096-C872-43AE-BC0A-A5AFC8D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기존 구상은 보존하고, 현재 결정 상태를 명확히 구분한다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F2EE51-C481-442E-963C-9B9D681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4E6382-1274-4201-BD69-2A80F2B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EDB38C1-5DA2-4DAF-97B1-7417C01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D5B4D-B262-45EA-B2A7-8456E3446034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3721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구상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T w="9525">
                      <a:solidFill>
                        <a:srgbClr val="D9DCE1"/>
                      </a:solidFill>
                      <a:prstDash val="solid"/>
                    </a:lnT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2EE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생존 RPG, 사냥, 제작, 도시 성장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상세안으로 보존, 재확인 필요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가지 지역 시작 경로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상세안으로 보존, 재확인 필요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근현대까지 약 40장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목표 규모, 현재 분량 미정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세계 재구성, 인물 재선택, 계승</a:t>
                      </a:r>
                    </a:p>
                  </a:txBody>
                  <a:tcPr marL="171450" marR="133350" marT="152400" marB="152400" anchor="ctr">
                    <a:lnL w="9525">
                      <a:solidFill>
                        <a:srgbClr val="D9DCE1"/>
                      </a:solidFill>
                      <a:prstDash val="solid"/>
                    </a:lnL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B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상세안으로 보존, 재확인 필요</a:t>
                      </a:r>
                    </a:p>
                  </a:txBody>
                  <a:tcPr marL="171450" marR="133350" marT="152400" marB="152400" anchor="ctr">
                    <a:lnR w="9525">
                      <a:solidFill>
                        <a:srgbClr val="D9DCE1"/>
                      </a:solidFill>
                      <a:prstDash val="solid"/>
                    </a:lnR>
                    <a:lnB w="9525">
                      <a:solidFill>
                        <a:srgbClr val="D9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077A50E3-FDA6-4CA2-8F07-263DCCA1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장르와 상세 게임 규칙을 현재 개발 사양으로 자동 확정하지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852980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119BA9DD-78E4-4404-9C54-25DC67F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다음 설계에서 결정할 것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CD2BD9-2E37-4547-B9DD-496C5BF8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작은 플레이 구간으로 재미를 검증한 뒤 시스템을 확장한다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85792D-3818-4CE4-9D1D-48F5DC5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42CA874-6197-4281-940D-38B0B8B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RoxHistory  /  기획 방향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FD8CF16-13F8-46D3-B015-D83CE0B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direction-title">
            <a:extLst xmlns:a="http://schemas.openxmlformats.org/drawingml/2006/main">
              <a:ext uri="{FF2B5EF4-FFF2-40B4-BE49-F238E27FC236}">
                <a16:creationId xmlns:a16="http://schemas.microsoft.com/office/drawing/2014/main" id="{BDAD0830-9244-47DB-A422-4A17B06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유지할 방향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2DC749ED-6F6C-4240-A729-60D1EB58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먼저 정할 내용</a:t>
            </a:r>
          </a:p>
        </p:txBody>
      </p:sp>
      <p:sp>
        <p:nvSpPr>
          <p:cNvPr id="8" name="fixed-0">
            <a:extLst xmlns:a="http://schemas.openxmlformats.org/drawingml/2006/main">
              <a:ext uri="{FF2B5EF4-FFF2-40B4-BE49-F238E27FC236}">
                <a16:creationId xmlns:a16="http://schemas.microsoft.com/office/drawing/2014/main" id="{9C9259A4-8C10-494E-8477-39BAA026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지도 중심의 역사 경험</a:t>
            </a:r>
          </a:p>
        </p:txBody>
      </p:sp>
      <p:sp>
        <p:nvSpPr>
          <p:cNvPr id="9" name="fixed-1">
            <a:extLst xmlns:a="http://schemas.openxmlformats.org/drawingml/2006/main">
              <a:ext uri="{FF2B5EF4-FFF2-40B4-BE49-F238E27FC236}">
                <a16:creationId xmlns:a16="http://schemas.microsoft.com/office/drawing/2014/main" id="{B6459541-64A6-460C-91B1-341EC60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선사시대부터 이어지는 흐름</a:t>
            </a:r>
          </a:p>
        </p:txBody>
      </p:sp>
      <p:sp>
        <p:nvSpPr>
          <p:cNvPr id="10" name="fixed-2">
            <a:extLst xmlns:a="http://schemas.openxmlformats.org/drawingml/2006/main">
              <a:ext uri="{FF2B5EF4-FFF2-40B4-BE49-F238E27FC236}">
                <a16:creationId xmlns:a16="http://schemas.microsoft.com/office/drawing/2014/main" id="{1758235C-296E-4678-9CD3-DD643276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역사와 지리의 자연스러운 학습</a:t>
            </a:r>
          </a:p>
        </p:txBody>
      </p:sp>
      <p:sp>
        <p:nvSpPr>
          <p:cNvPr id="11" name="fixed-3">
            <a:extLst xmlns:a="http://schemas.openxmlformats.org/drawingml/2006/main">
              <a:ext uri="{FF2B5EF4-FFF2-40B4-BE49-F238E27FC236}">
                <a16:creationId xmlns:a16="http://schemas.microsoft.com/office/drawing/2014/main" id="{81F5E384-F6C2-451F-8089-903F9EE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사실, 해석, 게임 가정의 구분</a:t>
            </a:r>
          </a:p>
        </p:txBody>
      </p:sp>
      <p:sp>
        <p:nvSpPr>
          <p:cNvPr id="12" name="next-0">
            <a:extLst xmlns:a="http://schemas.openxmlformats.org/drawingml/2006/main">
              <a:ext uri="{FF2B5EF4-FFF2-40B4-BE49-F238E27FC236}">
                <a16:creationId xmlns:a16="http://schemas.microsoft.com/office/drawing/2014/main" id="{F28826BD-3B73-4D14-821E-63C3A52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반복 행동과 플레이어 역할</a:t>
            </a:r>
          </a:p>
        </p:txBody>
      </p:sp>
      <p:sp>
        <p:nvSpPr>
          <p:cNvPr id="13" name="next-1">
            <a:extLst xmlns:a="http://schemas.openxmlformats.org/drawingml/2006/main">
              <a:ext uri="{FF2B5EF4-FFF2-40B4-BE49-F238E27FC236}">
                <a16:creationId xmlns:a16="http://schemas.microsoft.com/office/drawing/2014/main" id="{A260A6FB-5B1C-4640-84D1-B6DFBD0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목표, 보상과 시대 진행 조건</a:t>
            </a:r>
          </a:p>
        </p:txBody>
      </p:sp>
      <p:sp>
        <p:nvSpPr>
          <p:cNvPr id="14" name="next-2">
            <a:extLst xmlns:a="http://schemas.openxmlformats.org/drawingml/2006/main">
              <a:ext uri="{FF2B5EF4-FFF2-40B4-BE49-F238E27FC236}">
                <a16:creationId xmlns:a16="http://schemas.microsoft.com/office/drawing/2014/main" id="{04CF6AF3-8A16-48EB-85B9-D6745A5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지도와 실제 플레이의 관계</a:t>
            </a:r>
          </a:p>
        </p:txBody>
      </p:sp>
      <p:sp>
        <p:nvSpPr>
          <p:cNvPr id="15" name="next-3">
            <a:extLst xmlns:a="http://schemas.openxmlformats.org/drawingml/2006/main">
              <a:ext uri="{FF2B5EF4-FFF2-40B4-BE49-F238E27FC236}">
                <a16:creationId xmlns:a16="http://schemas.microsoft.com/office/drawing/2014/main" id="{57071448-9475-47DD-AEB7-B5611CD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B38"/>
                </a:solidFill>
                <a:latin typeface="Malgun Gothic"/>
                <a:ea typeface="Malgun Gothic"/>
                <a:cs typeface="Malgun Gothic"/>
              </a:rPr>
              <a:t>React·TypeScript 구현 범위</a:t>
            </a:r>
          </a:p>
        </p:txBody>
      </p:sp>
      <p:sp>
        <p:nvSpPr>
          <p:cNvPr id="16" name="visual-preference">
            <a:extLst xmlns:a="http://schemas.openxmlformats.org/drawingml/2006/main">
              <a:ext uri="{FF2B5EF4-FFF2-40B4-BE49-F238E27FC236}">
                <a16:creationId xmlns:a16="http://schemas.microsoft.com/office/drawing/2014/main" id="{31C2D09C-B298-4D77-A6FC-1F7B5457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A563E"/>
                </a:solidFill>
                <a:latin typeface="Malgun Gothic"/>
                <a:ea typeface="Malgun Gothic"/>
                <a:cs typeface="Malgun Gothic"/>
              </a:rPr>
              <a:t>비주얼 우선 방향: 아기자기한 2.5D 1안</a:t>
            </a:r>
          </a:p>
        </p:txBody>
      </p:sp>
      <p:sp>
        <p:nvSpPr>
          <p:cNvPr id="17" name="figma">
            <a:extLst xmlns:a="http://schemas.openxmlformats.org/drawingml/2006/main">
              <a:ext uri="{FF2B5EF4-FFF2-40B4-BE49-F238E27FC236}">
                <a16:creationId xmlns:a16="http://schemas.microsoft.com/office/drawing/2014/main" id="{4EA26025-691C-4D03-838F-1413EC6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26C79"/>
                </a:solidFill>
                <a:latin typeface="Malgun Gothic"/>
                <a:ea typeface="Malgun Gothic"/>
                <a:cs typeface="Malgun Gothic"/>
              </a:rPr>
              <a:t>Figma 검토: 메인, 지도, 시대 진행, 국가·지역 정보, 역사 이벤트</a:t>
            </a:r>
          </a:p>
        </p:txBody>
      </p:sp>
    </p:spTree>
    <p:extLst>
      <p:ext uri="{BB962C8B-B14F-4D97-AF65-F5344CB8AC3E}">
        <p14:creationId xmlns:p14="http://schemas.microsoft.com/office/powerpoint/2010/main" val="148334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2026-10-28T21:49:10.6930000Z</dcterms:created>
  <dcterms:modified xsi:type="dcterms:W3CDTF">2026-10-28T21:49:10.6930000Z</dcterms:modified>
</coreProperties>
</file>