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aa92d5a8ec4d26" /><Relationship Type="http://schemas.openxmlformats.org/officeDocument/2006/relationships/extended-properties" Target="/docProps/app.xml" Id="Rca3853781fad4a78" /><Relationship Type="http://schemas.openxmlformats.org/officeDocument/2006/relationships/officeDocument" Target="/ppt/presentation.xml" Id="Ra998b99b41ad45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0db281a69a423e"/>
  </p:sldMasterIdLst>
  <p:notesMasterIdLst>
    <p:notesMasterId xmlns:r="http://schemas.openxmlformats.org/officeDocument/2006/relationships" r:id="Rb6ac5b0ea452488a"/>
  </p:notesMasterIdLst>
  <p:sldIdLst>
    <p:sldId xmlns:r="http://schemas.openxmlformats.org/officeDocument/2006/relationships" id="256" r:id="Rf09284a53df349b7"/>
    <p:sldId xmlns:r="http://schemas.openxmlformats.org/officeDocument/2006/relationships" id="257" r:id="Re3318364064c4bdd"/>
    <p:sldId xmlns:r="http://schemas.openxmlformats.org/officeDocument/2006/relationships" id="258" r:id="Rc27ef8199cc849a8"/>
    <p:sldId xmlns:r="http://schemas.openxmlformats.org/officeDocument/2006/relationships" id="259" r:id="R2c102720d9da48ee"/>
    <p:sldId xmlns:r="http://schemas.openxmlformats.org/officeDocument/2006/relationships" id="260" r:id="R771405d162d14bb4"/>
    <p:sldId xmlns:r="http://schemas.openxmlformats.org/officeDocument/2006/relationships" id="261" r:id="Rdac4a369f5e84141"/>
    <p:sldId xmlns:r="http://schemas.openxmlformats.org/officeDocument/2006/relationships" id="262" r:id="R57dff6320f674aad"/>
    <p:sldId xmlns:r="http://schemas.openxmlformats.org/officeDocument/2006/relationships" id="263" r:id="R605ddc38615b45cb"/>
    <p:sldId xmlns:r="http://schemas.openxmlformats.org/officeDocument/2006/relationships" id="264" r:id="R369a60378e75433e"/>
    <p:sldId xmlns:r="http://schemas.openxmlformats.org/officeDocument/2006/relationships" id="265" r:id="R389747c4b1904a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03bb48a8e6448f" /><Relationship Type="http://schemas.openxmlformats.org/officeDocument/2006/relationships/slideMaster" Target="/ppt/slideMasters/slideMaster1.xml" Id="R100db281a69a423e" /><Relationship Type="http://schemas.openxmlformats.org/officeDocument/2006/relationships/notesMaster" Target="/ppt/notesMasters/notesMaster1.xml" Id="Rb6ac5b0ea452488a" /><Relationship Type="http://schemas.openxmlformats.org/officeDocument/2006/relationships/presProps" Target="/ppt/presProps.xml" Id="R1b866937fb684a60" /><Relationship Type="http://schemas.openxmlformats.org/officeDocument/2006/relationships/tableStyles" Target="/ppt/tableStyles.xml" Id="R9f1e9457d0e94fe3" /><Relationship Type="http://schemas.openxmlformats.org/officeDocument/2006/relationships/slide" Target="/ppt/slides/slide1.xml" Id="Rf09284a53df349b7" /><Relationship Type="http://schemas.openxmlformats.org/officeDocument/2006/relationships/slide" Target="/ppt/slides/slide2.xml" Id="Re3318364064c4bdd" /><Relationship Type="http://schemas.openxmlformats.org/officeDocument/2006/relationships/slide" Target="/ppt/slides/slide3.xml" Id="Rc27ef8199cc849a8" /><Relationship Type="http://schemas.openxmlformats.org/officeDocument/2006/relationships/slide" Target="/ppt/slides/slide4.xml" Id="R2c102720d9da48ee" /><Relationship Type="http://schemas.openxmlformats.org/officeDocument/2006/relationships/slide" Target="/ppt/slides/slide5.xml" Id="R771405d162d14bb4" /><Relationship Type="http://schemas.openxmlformats.org/officeDocument/2006/relationships/slide" Target="/ppt/slides/slide6.xml" Id="Rdac4a369f5e84141" /><Relationship Type="http://schemas.openxmlformats.org/officeDocument/2006/relationships/slide" Target="/ppt/slides/slide7.xml" Id="R57dff6320f674aad" /><Relationship Type="http://schemas.openxmlformats.org/officeDocument/2006/relationships/slide" Target="/ppt/slides/slide8.xml" Id="R605ddc38615b45cb" /><Relationship Type="http://schemas.openxmlformats.org/officeDocument/2006/relationships/slide" Target="/ppt/slides/slide9.xml" Id="R369a60378e75433e" /><Relationship Type="http://schemas.openxmlformats.org/officeDocument/2006/relationships/slide" Target="/ppt/slides/slide10.xml" Id="R389747c4b1904a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4758e42f684e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09b3ea02d94645" /><Relationship Type="http://schemas.openxmlformats.org/officeDocument/2006/relationships/notesMaster" Target="/ppt/notesMasters/notesMaster1.xml" Id="Rcaa5dcc2456c48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a73f47af3147dc" /><Relationship Type="http://schemas.openxmlformats.org/officeDocument/2006/relationships/notesMaster" Target="/ppt/notesMasters/notesMaster1.xml" Id="R543fb4bc486146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29bba6cf194a8f" /><Relationship Type="http://schemas.openxmlformats.org/officeDocument/2006/relationships/notesMaster" Target="/ppt/notesMasters/notesMaster1.xml" Id="R0080d9126fc74c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bf35181a0b42ee" /><Relationship Type="http://schemas.openxmlformats.org/officeDocument/2006/relationships/notesMaster" Target="/ppt/notesMasters/notesMaster1.xml" Id="R3c0acc525b2e4d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785d570b22433d" /><Relationship Type="http://schemas.openxmlformats.org/officeDocument/2006/relationships/notesMaster" Target="/ppt/notesMasters/notesMaster1.xml" Id="R247e8a94485747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44f3f2c0d14e47" /><Relationship Type="http://schemas.openxmlformats.org/officeDocument/2006/relationships/notesMaster" Target="/ppt/notesMasters/notesMaster1.xml" Id="R437a47a341db4e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87dfe583b44bf7" /><Relationship Type="http://schemas.openxmlformats.org/officeDocument/2006/relationships/notesMaster" Target="/ppt/notesMasters/notesMaster1.xml" Id="R09852595ef68420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a2c675b60149aa" /><Relationship Type="http://schemas.openxmlformats.org/officeDocument/2006/relationships/notesMaster" Target="/ppt/notesMasters/notesMaster1.xml" Id="Rc3887b4e470c4b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6b23d50cea4080" /><Relationship Type="http://schemas.openxmlformats.org/officeDocument/2006/relationships/notesMaster" Target="/ppt/notesMasters/notesMaster1.xml" Id="R37a690ce01004d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c9070a54a0d47d0" /><Relationship Type="http://schemas.openxmlformats.org/officeDocument/2006/relationships/notesMaster" Target="/ppt/notesMasters/notesMaster1.xml" Id="R9b7378d220914f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대화에서 합의한 초기 콘셉트 요약. 게임의 재미가 우선이며 역사와 지리의 큰 흐름을 플레이를 통해 접한다. 장 수와 수치, 엔진과 최종 비주얼은 미정이다.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기본 순환의 개념도이며 실제 기능 순서와 밸런스는 후속 설계한다. 필수 퀴즈와 긴 교육 설명으로 플레이를 끊지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지역 3곳은 미확정이다. 전곡리·수양개, 암사동, 동삼동 등은 유형별 후보이다. 구석기와 신석기의 시기 차이를 검토하고 공통 사건에 합류하는 시간 설정을 맞춰야 한다. 사냥형을 선택했다고 건설이 제한되는 고정 직업 구조는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화면 흐름을 설명한 도식이다. 실제 지도나 지리적 위치를 표현한 그림이 아니다. 선사시대 해안선이 현재와 같다고 가정하지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합류 구조의 게임 기획 개념도. 촌락 간 관계와 국가 형성의 실제 과정은 단일 침략이나 합병으로 확정하지 않는다. 경로별 시간 차이와 시대 정합성을 먼저 검토한다.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약 40장은 목표 규모이다. 이 슬라이드는 장 목록이나 실제 연표를 확정하지 않는다. 고조선 이후 삼국 성장까지의 중간 과정 등은 정식 장 구성 시 검토한다. 실존 인물과 플레이어 인물의 관계도 후속 결정한다.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세기말은 게임의 시대 전환 연출을 가리키는 작업 용어이다. 실제 역사에서 매번 세계가 멸망했다는 뜻이 아니다. 계승 비율, 물자 변환, 보너스와 역할 명칭은 미정이다.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교육 목표는 암기보다 큰 흐름과 위치 감각이다. 역사적 사실, 해석과 게임 창작을 구분한다. 고구려의 옛 영역을 검토 범위로 삼되 선사문화를 고구려 문화로 단정하지 않는다. 고조선과 삼국 영역 지도는 아직 제작하거나 확정하지 않았다.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대화에서 생성한 3가지 이미지 비교안. 생성형 비주얼 참고 자료이며 실제 역사 복원도, 확정 게임 화면, 최종 게임 에셋이 아니다. 기존 Figma는 구조 초안이다.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기준 문서는 docs/synopsis-v0.1.md이다. React와 TypeScript를 우선 검토하며 Phaser는 후보이고 확정 엔진이 아니다. Figma https://www.figma.com/design/zkbflw9fCdAlWbphhw5pSS . 사용자 요청에 따라 이번에는 초기 문서화와 자료 보관을 완료하고 Figma는 후속 작업으로 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85c4ac48e548f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8230dcb8b343f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c7aa037118491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d4e5c415c740b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75e4ac4bc646a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9b7f5db32e44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2531F3-7DFA-4203-AB2D-7C3F67C179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EFA6C1B-0C5A-4BD1-8BBE-AE67B019C03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181EEFF-833A-4514-9CAF-C91ECF8CDB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A68B404-CCCE-4E00-B85D-8B2AC65F08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CC3106B-6088-439A-8D57-6E211EC708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F1430BD-5ED0-4505-9F07-D36EBA18F7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2C9C46E-0C70-4E64-9F8F-22579FAD7C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697F25A-CAE8-46FA-805F-0F9F867862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2C7885D-F778-41C3-8A30-E8ED6019CB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8EA662C-0BAF-47BD-A1F7-F134583FE2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8dd214458e45f2" /><Relationship Type="http://schemas.openxmlformats.org/officeDocument/2006/relationships/slideLayout" Target="/ppt/slideLayouts/slideLayout1.xml" Id="Rfe4e987531344e92" /><Relationship Type="http://schemas.openxmlformats.org/officeDocument/2006/relationships/slideLayout" Target="/ppt/slideLayouts/slideLayout2.xml" Id="R1467ce8bb7e944be" /><Relationship Type="http://schemas.openxmlformats.org/officeDocument/2006/relationships/slideLayout" Target="/ppt/slideLayouts/slideLayout3.xml" Id="Rbe173c9421a149f2" /><Relationship Type="http://schemas.openxmlformats.org/officeDocument/2006/relationships/slideLayout" Target="/ppt/slideLayouts/slideLayout4.xml" Id="Rfdb48c2ada4940dd" /><Relationship Type="http://schemas.openxmlformats.org/officeDocument/2006/relationships/slideLayout" Target="/ppt/slideLayouts/slideLayout5.xml" Id="R821c85149e5c49d3" /><Relationship Type="http://schemas.openxmlformats.org/officeDocument/2006/relationships/slideLayout" Target="/ppt/slideLayouts/slideLayout6.xml" Id="R93150aea5c9c4d3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4e987531344e92"/>
    <p:sldLayoutId xmlns:r="http://schemas.openxmlformats.org/officeDocument/2006/relationships" id="2147483650" r:id="R1467ce8bb7e944be"/>
    <p:sldLayoutId xmlns:r="http://schemas.openxmlformats.org/officeDocument/2006/relationships" id="2147483651" r:id="Rbe173c9421a149f2"/>
    <p:sldLayoutId xmlns:r="http://schemas.openxmlformats.org/officeDocument/2006/relationships" id="2147483652" r:id="Rfdb48c2ada4940dd"/>
    <p:sldLayoutId xmlns:r="http://schemas.openxmlformats.org/officeDocument/2006/relationships" id="2147483653" r:id="R821c85149e5c49d3"/>
    <p:sldLayoutId xmlns:r="http://schemas.openxmlformats.org/officeDocument/2006/relationships" id="2147483654" r:id="R93150aea5c9c4d3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51060239ab4a02" /><Relationship Type="http://schemas.openxmlformats.org/officeDocument/2006/relationships/notesSlide" Target="/ppt/notesSlides/notesSlide1.xml" Id="Re88e1272d8164d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8e9a4ef74a4f40" /><Relationship Type="http://schemas.openxmlformats.org/officeDocument/2006/relationships/notesSlide" Target="/ppt/notesSlides/notesSlide2.xml" Id="R785009f01b6343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50611a281c4ee5" /><Relationship Type="http://schemas.openxmlformats.org/officeDocument/2006/relationships/notesSlide" Target="/ppt/notesSlides/notesSlide3.xml" Id="Rf0fead45571a45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b581560dbc4081" /><Relationship Type="http://schemas.openxmlformats.org/officeDocument/2006/relationships/notesSlide" Target="/ppt/notesSlides/notesSlide4.xml" Id="Rdf1c5be86cbd49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3cafb09a7b4195" /><Relationship Type="http://schemas.openxmlformats.org/officeDocument/2006/relationships/notesSlide" Target="/ppt/notesSlides/notesSlide5.xml" Id="Rbb47a7a63777495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7ee697efcb49b6" /><Relationship Type="http://schemas.openxmlformats.org/officeDocument/2006/relationships/notesSlide" Target="/ppt/notesSlides/notesSlide6.xml" Id="R42e2c63aea8243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f32af8d901443a" /><Relationship Type="http://schemas.openxmlformats.org/officeDocument/2006/relationships/notesSlide" Target="/ppt/notesSlides/notesSlide7.xml" Id="R569e88476a7b4ee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c113c5bbb543f8" /><Relationship Type="http://schemas.openxmlformats.org/officeDocument/2006/relationships/notesSlide" Target="/ppt/notesSlides/notesSlide8.xml" Id="R2d7f74183fcb40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cb7a21fd6c4232" /><Relationship Type="http://schemas.openxmlformats.org/officeDocument/2006/relationships/image" Target="/ppt/media/image.png" Id="R5620d2151c5b45c2" /><Relationship Type="http://schemas.openxmlformats.org/officeDocument/2006/relationships/image" Target="/ppt/media/image2.png" Id="Rc83be6b7a36b4669" /><Relationship Type="http://schemas.openxmlformats.org/officeDocument/2006/relationships/image" Target="/ppt/media/image3.png" Id="Rd3828dff5c554d18" /><Relationship Type="http://schemas.openxmlformats.org/officeDocument/2006/relationships/notesSlide" Target="/ppt/notesSlides/notesSlide9.xml" Id="R3ac8f9bcde3b4a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68ecbaada14398" /><Relationship Type="http://schemas.openxmlformats.org/officeDocument/2006/relationships/notesSlide" Target="/ppt/notesSlides/notesSlide10.xml" Id="R517d1c234707402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788134FA-F2B2-4899-9A75-BE0045ED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77D9FE34-512F-430F-9724-1F4B2154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7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57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57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57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57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57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57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57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57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57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57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57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RoxHistory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9905FBA-9561-4ED7-96AB-A1D4A638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668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한국사 생존 RPG</a:t>
            </a:r>
          </a:p>
          <a:p xmlns:a="http://schemas.openxmlformats.org/drawingml/2006/main">
            <a:pPr>
              <a:def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46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초기 시놉시스</a:t>
            </a:r>
          </a:p>
        </p:txBody>
      </p:sp>
      <p:sp>
        <p:nvSpPr>
          <p:cNvPr id="4" name="cover-summary">
            <a:extLst xmlns:a="http://schemas.openxmlformats.org/drawingml/2006/main">
              <a:ext uri="{FF2B5EF4-FFF2-40B4-BE49-F238E27FC236}">
                <a16:creationId xmlns:a16="http://schemas.microsoft.com/office/drawing/2014/main" id="{7818EEC0-7B0D-48F0-813A-BC6353B5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1038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사냥과 마을 성장에 몰입하며</a:t>
            </a:r>
          </a:p>
          <a:p xmlns:a="http://schemas.openxmlformats.org/drawingml/2006/main">
            <a:pPr>
              <a:def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한국사와 우리 지리의 큰 흐름을 경험한다</a:t>
            </a:r>
          </a:p>
        </p:txBody>
      </p:sp>
      <p:sp>
        <p:nvSpPr>
          <p:cNvPr id="5" name="version">
            <a:extLst xmlns:a="http://schemas.openxmlformats.org/drawingml/2006/main">
              <a:ext uri="{FF2B5EF4-FFF2-40B4-BE49-F238E27FC236}">
                <a16:creationId xmlns:a16="http://schemas.microsoft.com/office/drawing/2014/main" id="{ED743554-8A28-4B09-800C-33B1C132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57900"/>
            <a:ext cx="809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5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5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5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5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5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5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5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5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5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v0.1   2026년 10월 28일</a:t>
            </a:r>
          </a:p>
        </p:txBody>
      </p:sp>
    </p:spTree>
    <p:extLst>
      <p:ext uri="{BB962C8B-B14F-4D97-AF65-F5344CB8AC3E}">
        <p14:creationId xmlns:p14="http://schemas.microsoft.com/office/powerpoint/2010/main" val="21291576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8A5564-59EF-44DA-A2F8-BAA42FF0A235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763000" y="29241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B40AD7-FA3B-42F2-BAC2-CA6B72F89AA9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943600" y="29241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47C7FD-3F0C-4359-9764-621136CFDFD3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24200" y="29241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sp>
        <p:nvSpPr>
          <p:cNvPr id="16" name="title">
            <a:extLst xmlns:a="http://schemas.openxmlformats.org/drawingml/2006/main">
              <a:ext uri="{FF2B5EF4-FFF2-40B4-BE49-F238E27FC236}">
                <a16:creationId xmlns:a16="http://schemas.microsoft.com/office/drawing/2014/main" id="{17DB321F-2EDA-4080-A364-76F3B9DE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게임의 재미와 성장 순환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47C4C179-5039-4D0E-839A-0B35AD84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" name="intro">
            <a:extLst xmlns:a="http://schemas.openxmlformats.org/drawingml/2006/main">
              <a:ext uri="{FF2B5EF4-FFF2-40B4-BE49-F238E27FC236}">
                <a16:creationId xmlns:a16="http://schemas.microsoft.com/office/drawing/2014/main" id="{15A064C1-BA3B-4A79-A856-573CC3CA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내 인물의 행동이 마을과 다음 모험을 바꾼다</a:t>
            </a:r>
          </a:p>
        </p:txBody>
      </p:sp>
      <p:sp>
        <p:nvSpPr>
          <p:cNvPr id="4" name="loop-0">
            <a:extLst xmlns:a="http://schemas.openxmlformats.org/drawingml/2006/main">
              <a:ext uri="{FF2B5EF4-FFF2-40B4-BE49-F238E27FC236}">
                <a16:creationId xmlns:a16="http://schemas.microsoft.com/office/drawing/2014/main" id="{18A0D0DD-CC93-4847-B883-300DA260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251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탐험과 사냥</a:t>
            </a:r>
          </a:p>
        </p:txBody>
      </p:sp>
      <p:sp>
        <p:nvSpPr>
          <p:cNvPr id="5" name="loop-1">
            <a:extLst xmlns:a="http://schemas.openxmlformats.org/drawingml/2006/main">
              <a:ext uri="{FF2B5EF4-FFF2-40B4-BE49-F238E27FC236}">
                <a16:creationId xmlns:a16="http://schemas.microsoft.com/office/drawing/2014/main" id="{C1F6F36D-1706-47D2-876D-1DED69BC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47925"/>
            <a:ext cx="251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파밍과 제작</a:t>
            </a:r>
          </a:p>
        </p:txBody>
      </p:sp>
      <p:sp>
        <p:nvSpPr>
          <p:cNvPr id="6" name="loop-2">
            <a:extLst xmlns:a="http://schemas.openxmlformats.org/drawingml/2006/main">
              <a:ext uri="{FF2B5EF4-FFF2-40B4-BE49-F238E27FC236}">
                <a16:creationId xmlns:a16="http://schemas.microsoft.com/office/drawing/2014/main" id="{E258B6B4-F198-4469-A214-E2677BF9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47925"/>
            <a:ext cx="251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거점과 도시 성장</a:t>
            </a:r>
          </a:p>
        </p:txBody>
      </p:sp>
      <p:sp>
        <p:nvSpPr>
          <p:cNvPr id="7" name="loop-3">
            <a:extLst xmlns:a="http://schemas.openxmlformats.org/drawingml/2006/main">
              <a:ext uri="{FF2B5EF4-FFF2-40B4-BE49-F238E27FC236}">
                <a16:creationId xmlns:a16="http://schemas.microsoft.com/office/drawing/2014/main" id="{9AF1CF6E-2E99-46F8-B849-7F93A52B5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47925"/>
            <a:ext cx="251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새 지역과 사건</a:t>
            </a:r>
          </a:p>
        </p:txBody>
      </p:sp>
      <p:sp>
        <p:nvSpPr>
          <p:cNvPr id="11" name="detail-0">
            <a:extLst xmlns:a="http://schemas.openxmlformats.org/drawingml/2006/main">
              <a:ext uri="{FF2B5EF4-FFF2-40B4-BE49-F238E27FC236}">
                <a16:creationId xmlns:a16="http://schemas.microsoft.com/office/drawing/2014/main" id="{568CCC52-1C25-4AE0-A6A0-7A64BDB0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2514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추적하고 도전한다</a:t>
            </a:r>
          </a:p>
        </p:txBody>
      </p:sp>
      <p:sp>
        <p:nvSpPr>
          <p:cNvPr id="12" name="detail-1">
            <a:extLst xmlns:a="http://schemas.openxmlformats.org/drawingml/2006/main">
              <a:ext uri="{FF2B5EF4-FFF2-40B4-BE49-F238E27FC236}">
                <a16:creationId xmlns:a16="http://schemas.microsoft.com/office/drawing/2014/main" id="{59DA9E88-30D5-4C4A-8157-3F6DABF3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705225"/>
            <a:ext cx="2514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재료를 얻고 강화한다</a:t>
            </a:r>
          </a:p>
        </p:txBody>
      </p:sp>
      <p:sp>
        <p:nvSpPr>
          <p:cNvPr id="13" name="detail-2">
            <a:extLst xmlns:a="http://schemas.openxmlformats.org/drawingml/2006/main">
              <a:ext uri="{FF2B5EF4-FFF2-40B4-BE49-F238E27FC236}">
                <a16:creationId xmlns:a16="http://schemas.microsoft.com/office/drawing/2014/main" id="{CF5A091A-DEEF-432B-AA55-BDB7C340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05225"/>
            <a:ext cx="2514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주민과 생산을 늘린다</a:t>
            </a:r>
          </a:p>
        </p:txBody>
      </p:sp>
      <p:sp>
        <p:nvSpPr>
          <p:cNvPr id="14" name="detail-3">
            <a:extLst xmlns:a="http://schemas.openxmlformats.org/drawingml/2006/main">
              <a:ext uri="{FF2B5EF4-FFF2-40B4-BE49-F238E27FC236}">
                <a16:creationId xmlns:a16="http://schemas.microsoft.com/office/drawing/2014/main" id="{6ADA502D-D1B1-4C46-BEE8-4F630D02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705225"/>
            <a:ext cx="25146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새 목표와 보상을 만난다</a:t>
            </a:r>
          </a:p>
        </p:txBody>
      </p:sp>
      <p:sp>
        <p:nvSpPr>
          <p:cNvPr id="15" name="priority">
            <a:extLst xmlns:a="http://schemas.openxmlformats.org/drawingml/2006/main">
              <a:ext uri="{FF2B5EF4-FFF2-40B4-BE49-F238E27FC236}">
                <a16:creationId xmlns:a16="http://schemas.microsoft.com/office/drawing/2014/main" id="{0A0B6B44-B05D-45D8-A415-B42DBA74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역사 정보는 행동과 상황에 녹이고, 자세한 기록은 선택해서 본다</a:t>
            </a:r>
          </a:p>
        </p:txBody>
      </p:sp>
    </p:spTree>
    <p:extLst>
      <p:ext uri="{BB962C8B-B14F-4D97-AF65-F5344CB8AC3E}">
        <p14:creationId xmlns:p14="http://schemas.microsoft.com/office/powerpoint/2010/main" val="21150333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32C762AD-617E-4968-803E-9E62F33C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선사시대의 세 가지 시작 경로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0F33C9E4-194E-4B49-8D1E-37810D8E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6590C0-1993-4AD8-96F3-0F5B5558762E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572000"/>
                <a:gridCol w="3924300"/>
              </a:tblGrid>
              <a:tr h="8810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0BD6C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시작 유형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T w="9525">
                      <a:solidFill>
                        <a:srgbClr val="58726A"/>
                      </a:solidFill>
                      <a:prstDash val="solid"/>
                    </a:lnT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2948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0BD6C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첫 행동과 성장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T w="9525">
                      <a:solidFill>
                        <a:srgbClr val="58726A"/>
                      </a:solidFill>
                      <a:prstDash val="solid"/>
                    </a:lnT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2948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0BD6C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주요 재미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T w="9525">
                      <a:solidFill>
                        <a:srgbClr val="58726A"/>
                      </a:solidFill>
                      <a:prstDash val="solid"/>
                    </a:lnT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29483F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사냥과 제작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추적, 재료 확보, 도구 강화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사냥의 손맛과 장비 성장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정착과 마을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거처 건설, 주민 합류, 생산 확장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공동체 운영과 건설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해안 생존과 교류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채집과 어로, 물자 확보와 교환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자원 탐색과 교류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</a:tbl>
          </a:graphicData>
        </a:graphic>
      </p:graphicFrame>
      <p:sp>
        <p:nvSpPr>
          <p:cNvPr id="4" name="freedom">
            <a:extLst xmlns:a="http://schemas.openxmlformats.org/drawingml/2006/main">
              <a:ext uri="{FF2B5EF4-FFF2-40B4-BE49-F238E27FC236}">
                <a16:creationId xmlns:a16="http://schemas.microsoft.com/office/drawing/2014/main" id="{7198179E-5318-4DB0-9645-AE7A06DF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지역 선택이 초반 모험을 바꾼다. 이후에는 다른 활동도 즐길 수 있다</a:t>
            </a:r>
          </a:p>
        </p:txBody>
      </p:sp>
    </p:spTree>
    <p:extLst>
      <p:ext uri="{BB962C8B-B14F-4D97-AF65-F5344CB8AC3E}">
        <p14:creationId xmlns:p14="http://schemas.microsoft.com/office/powerpoint/2010/main" val="15299675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8E3153-A684-430D-B26F-BF2962DA1BB6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763000" y="309562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D6B1E4-2A92-4973-93F1-7A5405B45378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943600" y="309562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8DFA76-2F62-483C-91FA-AD6D50325534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24200" y="309562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6FDD67FB-1CF9-479D-93FD-2EFE3272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지도 선택에서 첫 플레이까지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D7A82802-69AF-40D5-AFA2-6175D130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3" name="intro">
            <a:extLst xmlns:a="http://schemas.openxmlformats.org/drawingml/2006/main">
              <a:ext uri="{FF2B5EF4-FFF2-40B4-BE49-F238E27FC236}">
                <a16:creationId xmlns:a16="http://schemas.microsoft.com/office/drawing/2014/main" id="{347EF61F-9CBC-424D-8F34-3908EFC0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049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전체 지도 속 거점을 선택하면 그곳으로 들어간다</a:t>
            </a:r>
          </a:p>
        </p:txBody>
      </p:sp>
      <p:sp>
        <p:nvSpPr>
          <p:cNvPr id="4" name="map-overview">
            <a:extLst xmlns:a="http://schemas.openxmlformats.org/drawingml/2006/main">
              <a:ext uri="{FF2B5EF4-FFF2-40B4-BE49-F238E27FC236}">
                <a16:creationId xmlns:a16="http://schemas.microsoft.com/office/drawing/2014/main" id="{0EC4B222-759C-4CC6-922E-9CE1C8F5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514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전체 지도</a:t>
            </a:r>
          </a:p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세 거점 표시</a:t>
            </a:r>
          </a:p>
        </p:txBody>
      </p:sp>
      <p:sp>
        <p:nvSpPr>
          <p:cNvPr id="5" name="region-choice">
            <a:extLst xmlns:a="http://schemas.openxmlformats.org/drawingml/2006/main">
              <a:ext uri="{FF2B5EF4-FFF2-40B4-BE49-F238E27FC236}">
                <a16:creationId xmlns:a16="http://schemas.microsoft.com/office/drawing/2014/main" id="{39915165-18A4-4A4D-BFFF-002729DE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76500"/>
            <a:ext cx="2514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지역 선택</a:t>
            </a:r>
          </a:p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모험의 특징</a:t>
            </a:r>
          </a:p>
        </p:txBody>
      </p:sp>
      <p:sp>
        <p:nvSpPr>
          <p:cNvPr id="6" name="zoom">
            <a:extLst xmlns:a="http://schemas.openxmlformats.org/drawingml/2006/main">
              <a:ext uri="{FF2B5EF4-FFF2-40B4-BE49-F238E27FC236}">
                <a16:creationId xmlns:a16="http://schemas.microsoft.com/office/drawing/2014/main" id="{FE9E3E68-B958-4397-99DB-7EBD5CA7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76500"/>
            <a:ext cx="2514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지역 확대</a:t>
            </a:r>
          </a:p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지형과 생활 터전</a:t>
            </a:r>
          </a:p>
        </p:txBody>
      </p:sp>
      <p:sp>
        <p:nvSpPr>
          <p:cNvPr id="7" name="start">
            <a:extLst xmlns:a="http://schemas.openxmlformats.org/drawingml/2006/main">
              <a:ext uri="{FF2B5EF4-FFF2-40B4-BE49-F238E27FC236}">
                <a16:creationId xmlns:a16="http://schemas.microsoft.com/office/drawing/2014/main" id="{DFCDD67D-ACBE-4570-B3EC-47016A5F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76500"/>
            <a:ext cx="2514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인물에 도착</a:t>
            </a:r>
          </a:p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첫 행동 시작</a:t>
            </a:r>
          </a:p>
        </p:txBody>
      </p:sp>
      <p:sp>
        <p:nvSpPr>
          <p:cNvPr id="11" name="geography">
            <a:extLst xmlns:a="http://schemas.openxmlformats.org/drawingml/2006/main">
              <a:ext uri="{FF2B5EF4-FFF2-40B4-BE49-F238E27FC236}">
                <a16:creationId xmlns:a16="http://schemas.microsoft.com/office/drawing/2014/main" id="{3AE6F142-83EF-4B8C-88C1-A1648F7C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2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2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2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2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2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2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2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2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2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산맥과 강, 해안을 위치의 기준으로 삼는다</a:t>
            </a:r>
          </a:p>
        </p:txBody>
      </p:sp>
      <p:sp>
        <p:nvSpPr>
          <p:cNvPr id="12" name="scope">
            <a:extLst xmlns:a="http://schemas.openxmlformats.org/drawingml/2006/main">
              <a:ext uri="{FF2B5EF4-FFF2-40B4-BE49-F238E27FC236}">
                <a16:creationId xmlns:a16="http://schemas.microsoft.com/office/drawing/2014/main" id="{88849093-E7B0-4BF0-AC06-D10AD9C0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75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한반도 전역과 북방 확장 지역을 검토하며, 정확한 시작 위치와 시대 지형은 후속 조사한다</a:t>
            </a:r>
          </a:p>
        </p:txBody>
      </p:sp>
    </p:spTree>
    <p:extLst>
      <p:ext uri="{BB962C8B-B14F-4D97-AF65-F5344CB8AC3E}">
        <p14:creationId xmlns:p14="http://schemas.microsoft.com/office/powerpoint/2010/main" val="17036962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14CFCB-12C2-49D7-8081-990C9E5DC739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620000" y="3467100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1B456E-A158-43D0-A4A0-93C15795672B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3562350" y="3467100"/>
            <a:ext cx="1200150" cy="12001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14ADF3-DB67-4F56-88D6-95F851B5FED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562350" y="3467100"/>
            <a:ext cx="1200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0EAD39-5F5C-4701-8744-60B1FC5D3855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562350" y="2266950"/>
            <a:ext cx="1200150" cy="12001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93648B40-0A01-47F4-83C7-A98E5F3B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서로 다른 출발과 공통 사건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9CDA9A8A-9E6E-420B-B972-420409D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05</a:t>
            </a:r>
          </a:p>
        </p:txBody>
      </p:sp>
      <p:sp>
        <p:nvSpPr>
          <p:cNvPr id="3" name="hunt">
            <a:extLst xmlns:a="http://schemas.openxmlformats.org/drawingml/2006/main">
              <a:ext uri="{FF2B5EF4-FFF2-40B4-BE49-F238E27FC236}">
                <a16:creationId xmlns:a16="http://schemas.microsoft.com/office/drawing/2014/main" id="{54ACBEDE-4F5B-4C81-B84E-F3C6629B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2952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사냥과 제작</a:t>
            </a:r>
          </a:p>
        </p:txBody>
      </p:sp>
      <p:sp>
        <p:nvSpPr>
          <p:cNvPr id="4" name="village">
            <a:extLst xmlns:a="http://schemas.openxmlformats.org/drawingml/2006/main">
              <a:ext uri="{FF2B5EF4-FFF2-40B4-BE49-F238E27FC236}">
                <a16:creationId xmlns:a16="http://schemas.microsoft.com/office/drawing/2014/main" id="{B892E3C7-2A45-4556-B553-817DE88D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952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정착과 마을</a:t>
            </a:r>
          </a:p>
        </p:txBody>
      </p:sp>
      <p:sp>
        <p:nvSpPr>
          <p:cNvPr id="5" name="coast">
            <a:extLst xmlns:a="http://schemas.openxmlformats.org/drawingml/2006/main">
              <a:ext uri="{FF2B5EF4-FFF2-40B4-BE49-F238E27FC236}">
                <a16:creationId xmlns:a16="http://schemas.microsoft.com/office/drawing/2014/main" id="{95108D53-F001-442D-A03F-DF5C9BB7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2952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해안 생존과 교류</a:t>
            </a:r>
          </a:p>
        </p:txBody>
      </p:sp>
      <p:sp>
        <p:nvSpPr>
          <p:cNvPr id="6" name="meeting">
            <a:extLst xmlns:a="http://schemas.openxmlformats.org/drawingml/2006/main">
              <a:ext uri="{FF2B5EF4-FFF2-40B4-BE49-F238E27FC236}">
                <a16:creationId xmlns:a16="http://schemas.microsoft.com/office/drawing/2014/main" id="{7CF5B25E-4B61-43FF-8839-BFBBB421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76550"/>
            <a:ext cx="2857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촌락 간 접촉</a:t>
            </a:r>
          </a:p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교류와 협력, 갈등</a:t>
            </a:r>
          </a:p>
        </p:txBody>
      </p:sp>
      <p:sp>
        <p:nvSpPr>
          <p:cNvPr id="7" name="common">
            <a:extLst xmlns:a="http://schemas.openxmlformats.org/drawingml/2006/main">
              <a:ext uri="{FF2B5EF4-FFF2-40B4-BE49-F238E27FC236}">
                <a16:creationId xmlns:a16="http://schemas.microsoft.com/office/drawing/2014/main" id="{29F1E86C-DA60-4B3E-8318-6C634344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76550"/>
            <a:ext cx="2857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공통의 큰 사건</a:t>
            </a:r>
          </a:p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다음 시대의 이야기</a:t>
            </a:r>
          </a:p>
        </p:txBody>
      </p:sp>
      <p:sp>
        <p:nvSpPr>
          <p:cNvPr id="12" name="contribution">
            <a:extLst xmlns:a="http://schemas.openxmlformats.org/drawingml/2006/main">
              <a:ext uri="{FF2B5EF4-FFF2-40B4-BE49-F238E27FC236}">
                <a16:creationId xmlns:a16="http://schemas.microsoft.com/office/drawing/2014/main" id="{56F2CDED-0E7F-4694-8080-23F67C97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같은 사건에서도 전투, 식량 생산, 물자 확보 등 참여 방식은 달라진다</a:t>
            </a:r>
          </a:p>
        </p:txBody>
      </p:sp>
    </p:spTree>
    <p:extLst>
      <p:ext uri="{BB962C8B-B14F-4D97-AF65-F5344CB8AC3E}">
        <p14:creationId xmlns:p14="http://schemas.microsoft.com/office/powerpoint/2010/main" val="5234660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">
            <a:extLst xmlns:a="http://schemas.openxmlformats.org/drawingml/2006/main">
              <a:ext uri="{FF2B5EF4-FFF2-40B4-BE49-F238E27FC236}">
                <a16:creationId xmlns:a16="http://schemas.microsoft.com/office/drawing/2014/main" id="{7CFAD98C-42FC-4F9F-BF66-FED02A18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선사시대부터 근현대까지의 장 구성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87D29828-8D2A-4492-A3B5-B9457223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06</a:t>
            </a:r>
          </a:p>
        </p:txBody>
      </p:sp>
      <p:sp>
        <p:nvSpPr>
          <p:cNvPr id="3" name="period-0">
            <a:extLst xmlns:a="http://schemas.openxmlformats.org/drawingml/2006/main">
              <a:ext uri="{FF2B5EF4-FFF2-40B4-BE49-F238E27FC236}">
                <a16:creationId xmlns:a16="http://schemas.microsoft.com/office/drawing/2014/main" id="{4092187D-E459-4865-AB44-05AEDE0F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190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1장</a:t>
            </a:r>
          </a:p>
        </p:txBody>
      </p:sp>
      <p:sp>
        <p:nvSpPr>
          <p:cNvPr id="4" name="era-0">
            <a:extLst xmlns:a="http://schemas.openxmlformats.org/drawingml/2006/main">
              <a:ext uri="{FF2B5EF4-FFF2-40B4-BE49-F238E27FC236}">
                <a16:creationId xmlns:a16="http://schemas.microsoft.com/office/drawing/2014/main" id="{76E736FD-697B-4D76-A619-F194FCA0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657350"/>
            <a:ext cx="3476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선사시대</a:t>
            </a:r>
          </a:p>
        </p:txBody>
      </p:sp>
      <p:sp>
        <p:nvSpPr>
          <p:cNvPr id="5" name="role-0">
            <a:extLst xmlns:a="http://schemas.openxmlformats.org/drawingml/2006/main">
              <a:ext uri="{FF2B5EF4-FFF2-40B4-BE49-F238E27FC236}">
                <a16:creationId xmlns:a16="http://schemas.microsoft.com/office/drawing/2014/main" id="{B1E55913-2F0D-4BAE-A551-7860E9B8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685925"/>
            <a:ext cx="5943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지역 선택과 생존, 기본 성장의 맛보기</a:t>
            </a:r>
          </a:p>
        </p:txBody>
      </p:sp>
      <p:sp>
        <p:nvSpPr>
          <p:cNvPr id="6" name="period-1">
            <a:extLst xmlns:a="http://schemas.openxmlformats.org/drawingml/2006/main">
              <a:ext uri="{FF2B5EF4-FFF2-40B4-BE49-F238E27FC236}">
                <a16:creationId xmlns:a16="http://schemas.microsoft.com/office/drawing/2014/main" id="{EC5D877B-9A98-44EB-92A6-712E06063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190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이후</a:t>
            </a:r>
          </a:p>
        </p:txBody>
      </p:sp>
      <p:sp>
        <p:nvSpPr>
          <p:cNvPr id="7" name="era-1">
            <a:extLst xmlns:a="http://schemas.openxmlformats.org/drawingml/2006/main">
              <a:ext uri="{FF2B5EF4-FFF2-40B4-BE49-F238E27FC236}">
                <a16:creationId xmlns:a16="http://schemas.microsoft.com/office/drawing/2014/main" id="{533E2AF3-1C74-48BF-A6E1-29684518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667000"/>
            <a:ext cx="3476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국가 형성과 고대</a:t>
            </a:r>
          </a:p>
        </p:txBody>
      </p:sp>
      <p:sp>
        <p:nvSpPr>
          <p:cNvPr id="8" name="role-1">
            <a:extLst xmlns:a="http://schemas.openxmlformats.org/drawingml/2006/main">
              <a:ext uri="{FF2B5EF4-FFF2-40B4-BE49-F238E27FC236}">
                <a16:creationId xmlns:a16="http://schemas.microsoft.com/office/drawing/2014/main" id="{2D3DFAEF-7EE6-443B-AFE1-A78790DF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695575"/>
            <a:ext cx="5943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역사적 인물과 사건 속에서 활동 범위 확장</a:t>
            </a:r>
          </a:p>
        </p:txBody>
      </p:sp>
      <p:sp>
        <p:nvSpPr>
          <p:cNvPr id="9" name="period-2">
            <a:extLst xmlns:a="http://schemas.openxmlformats.org/drawingml/2006/main">
              <a:ext uri="{FF2B5EF4-FFF2-40B4-BE49-F238E27FC236}">
                <a16:creationId xmlns:a16="http://schemas.microsoft.com/office/drawing/2014/main" id="{E3693316-5190-4DED-965C-73425F55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190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이후</a:t>
            </a:r>
          </a:p>
        </p:txBody>
      </p:sp>
      <p:sp>
        <p:nvSpPr>
          <p:cNvPr id="10" name="era-2">
            <a:extLst xmlns:a="http://schemas.openxmlformats.org/drawingml/2006/main">
              <a:ext uri="{FF2B5EF4-FFF2-40B4-BE49-F238E27FC236}">
                <a16:creationId xmlns:a16="http://schemas.microsoft.com/office/drawing/2014/main" id="{3E695731-BF04-4B0F-9535-B91A00EE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676650"/>
            <a:ext cx="3476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중세와 근세</a:t>
            </a:r>
          </a:p>
        </p:txBody>
      </p:sp>
      <p:sp>
        <p:nvSpPr>
          <p:cNvPr id="11" name="role-2">
            <a:extLst xmlns:a="http://schemas.openxmlformats.org/drawingml/2006/main">
              <a:ext uri="{FF2B5EF4-FFF2-40B4-BE49-F238E27FC236}">
                <a16:creationId xmlns:a16="http://schemas.microsoft.com/office/drawing/2014/main" id="{2A255607-C948-4A82-AA39-66DD50C6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05225"/>
            <a:ext cx="5943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시대에 맞는 생활과 생산, 주요 사건 참여</a:t>
            </a:r>
          </a:p>
        </p:txBody>
      </p:sp>
      <p:sp>
        <p:nvSpPr>
          <p:cNvPr id="12" name="period-3">
            <a:extLst xmlns:a="http://schemas.openxmlformats.org/drawingml/2006/main">
              <a:ext uri="{FF2B5EF4-FFF2-40B4-BE49-F238E27FC236}">
                <a16:creationId xmlns:a16="http://schemas.microsoft.com/office/drawing/2014/main" id="{567F6819-3984-488F-97ED-6463FBA1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190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목표</a:t>
            </a:r>
          </a:p>
        </p:txBody>
      </p:sp>
      <p:sp>
        <p:nvSpPr>
          <p:cNvPr id="13" name="era-3">
            <a:extLst xmlns:a="http://schemas.openxmlformats.org/drawingml/2006/main">
              <a:ext uri="{FF2B5EF4-FFF2-40B4-BE49-F238E27FC236}">
                <a16:creationId xmlns:a16="http://schemas.microsoft.com/office/drawing/2014/main" id="{38E99AE3-6343-4B69-8861-ECF7C513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686300"/>
            <a:ext cx="3476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근현대까지 약 40장</a:t>
            </a:r>
          </a:p>
        </p:txBody>
      </p:sp>
      <p:sp>
        <p:nvSpPr>
          <p:cNvPr id="14" name="role-3">
            <a:extLst xmlns:a="http://schemas.openxmlformats.org/drawingml/2006/main">
              <a:ext uri="{FF2B5EF4-FFF2-40B4-BE49-F238E27FC236}">
                <a16:creationId xmlns:a16="http://schemas.microsoft.com/office/drawing/2014/main" id="{BA0DBE23-6CC7-4B06-A8CF-7D0F7FBF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14875"/>
            <a:ext cx="5943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시대 흐름과 지역 변화가 이어지는 전체 구성</a:t>
            </a:r>
          </a:p>
        </p:txBody>
      </p:sp>
      <p:sp>
        <p:nvSpPr>
          <p:cNvPr id="15" name="planning">
            <a:extLst xmlns:a="http://schemas.openxmlformats.org/drawingml/2006/main">
              <a:ext uri="{FF2B5EF4-FFF2-40B4-BE49-F238E27FC236}">
                <a16:creationId xmlns:a16="http://schemas.microsoft.com/office/drawing/2014/main" id="{8CCE0913-D037-47BF-9FBE-DC4C51AC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72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72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72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72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72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72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72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72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72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72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세부 장 목록과 시대별 분량은 미정</a:t>
            </a:r>
          </a:p>
        </p:txBody>
      </p:sp>
    </p:spTree>
    <p:extLst>
      <p:ext uri="{BB962C8B-B14F-4D97-AF65-F5344CB8AC3E}">
        <p14:creationId xmlns:p14="http://schemas.microsoft.com/office/powerpoint/2010/main" val="18012708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1C4951-35A2-4B46-8DF9-34121C20FC27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763000" y="22002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E3D03-225D-446B-9147-1A1F256C1A5C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943600" y="22002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797F1A-AE19-4C7A-B81A-961FD8711B99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124200" y="220027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BD6C"/>
            </a:solidFill>
            <a:prstDash val="solid"/>
            <a:tailEnd type="triangle" w="med" len="med"/>
          </a:ln>
        </p:spPr>
      </p:cxnSp>
      <p:sp>
        <p:nvSpPr>
          <p:cNvPr id="15" name="title">
            <a:extLst xmlns:a="http://schemas.openxmlformats.org/drawingml/2006/main">
              <a:ext uri="{FF2B5EF4-FFF2-40B4-BE49-F238E27FC236}">
                <a16:creationId xmlns:a16="http://schemas.microsoft.com/office/drawing/2014/main" id="{AFA86118-67D2-4AE9-80C3-8BF471D8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시대 전환과 성과 계승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377FC952-DDE9-47B8-9FBF-6BC0AAB9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07</a:t>
            </a:r>
          </a:p>
        </p:txBody>
      </p:sp>
      <p:sp>
        <p:nvSpPr>
          <p:cNvPr id="3" name="transition-0">
            <a:extLst xmlns:a="http://schemas.openxmlformats.org/drawingml/2006/main">
              <a:ext uri="{FF2B5EF4-FFF2-40B4-BE49-F238E27FC236}">
                <a16:creationId xmlns:a16="http://schemas.microsoft.com/office/drawing/2014/main" id="{716938D2-DD4A-4E6A-AAD1-010C67C6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514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시대 마무리</a:t>
            </a:r>
          </a:p>
        </p:txBody>
      </p:sp>
      <p:sp>
        <p:nvSpPr>
          <p:cNvPr id="4" name="transition-1">
            <a:extLst xmlns:a="http://schemas.openxmlformats.org/drawingml/2006/main">
              <a:ext uri="{FF2B5EF4-FFF2-40B4-BE49-F238E27FC236}">
                <a16:creationId xmlns:a16="http://schemas.microsoft.com/office/drawing/2014/main" id="{A8CDBD47-B2B8-48D8-BCDA-C51AA330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90700"/>
            <a:ext cx="2514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세계 재구성</a:t>
            </a:r>
          </a:p>
        </p:txBody>
      </p:sp>
      <p:sp>
        <p:nvSpPr>
          <p:cNvPr id="5" name="transition-2">
            <a:extLst xmlns:a="http://schemas.openxmlformats.org/drawingml/2006/main">
              <a:ext uri="{FF2B5EF4-FFF2-40B4-BE49-F238E27FC236}">
                <a16:creationId xmlns:a16="http://schemas.microsoft.com/office/drawing/2014/main" id="{3775E9BB-0ACA-41CB-A190-3F21088A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2514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인물 재선택</a:t>
            </a:r>
          </a:p>
        </p:txBody>
      </p:sp>
      <p:sp>
        <p:nvSpPr>
          <p:cNvPr id="6" name="transition-3">
            <a:extLst xmlns:a="http://schemas.openxmlformats.org/drawingml/2006/main">
              <a:ext uri="{FF2B5EF4-FFF2-40B4-BE49-F238E27FC236}">
                <a16:creationId xmlns:a16="http://schemas.microsoft.com/office/drawing/2014/main" id="{2DF4964A-4A28-4CBA-BF48-1D0EF971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790700"/>
            <a:ext cx="2514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D2B"/>
          </a:solidFill>
          <a:ln xmlns:a="http://schemas.openxmlformats.org/drawingml/2006/main" w="19050">
            <a:solidFill>
              <a:srgbClr val="F0BD6C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성과 기반 새 출발</a:t>
            </a:r>
          </a:p>
        </p:txBody>
      </p:sp>
      <p:sp>
        <p:nvSpPr>
          <p:cNvPr id="10" name="carry-title">
            <a:extLst xmlns:a="http://schemas.openxmlformats.org/drawingml/2006/main">
              <a:ext uri="{FF2B5EF4-FFF2-40B4-BE49-F238E27FC236}">
                <a16:creationId xmlns:a16="http://schemas.microsoft.com/office/drawing/2014/main" id="{C3DD100D-411E-4F50-B2B7-A2C35D66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04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이전 시대에서 이어지는 성과</a:t>
            </a:r>
          </a:p>
        </p:txBody>
      </p:sp>
      <p:sp>
        <p:nvSpPr>
          <p:cNvPr id="11" name="carry">
            <a:extLst xmlns:a="http://schemas.openxmlformats.org/drawingml/2006/main">
              <a:ext uri="{FF2B5EF4-FFF2-40B4-BE49-F238E27FC236}">
                <a16:creationId xmlns:a16="http://schemas.microsoft.com/office/drawing/2014/main" id="{A0BA1150-6B20-46DC-8D6C-FC5F59A0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모은 물자</a:t>
            </a:r>
          </a:p>
          <a:p xmlns:a="http://schemas.openxmlformats.org/drawingml/2006/main">
            <a: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달성한 업적</a:t>
            </a:r>
          </a:p>
          <a:p xmlns:a="http://schemas.openxmlformats.org/drawingml/2006/main">
            <a: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캐릭터와 공동체의 성장 성과</a:t>
            </a:r>
          </a:p>
        </p:txBody>
      </p:sp>
      <p:sp>
        <p:nvSpPr>
          <p:cNvPr id="12" name="new-title">
            <a:extLst xmlns:a="http://schemas.openxmlformats.org/drawingml/2006/main">
              <a:ext uri="{FF2B5EF4-FFF2-40B4-BE49-F238E27FC236}">
                <a16:creationId xmlns:a16="http://schemas.microsoft.com/office/drawing/2014/main" id="{FCEB04F6-D66E-44C3-AF5A-B15D2077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33750"/>
            <a:ext cx="504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새 시대에서 달라지는 조건</a:t>
            </a:r>
          </a:p>
        </p:txBody>
      </p:sp>
      <p:sp>
        <p:nvSpPr>
          <p:cNvPr id="13" name="new">
            <a:extLst xmlns:a="http://schemas.openxmlformats.org/drawingml/2006/main">
              <a:ext uri="{FF2B5EF4-FFF2-40B4-BE49-F238E27FC236}">
                <a16:creationId xmlns:a16="http://schemas.microsoft.com/office/drawing/2014/main" id="{0FDF2842-86B3-4A69-8847-97BF000B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38600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새로운 인물과 역할</a:t>
            </a:r>
          </a:p>
          <a:p xmlns:a="http://schemas.openxmlformats.org/drawingml/2006/main">
            <a: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시대에 맞는 거점과 기술</a:t>
            </a:r>
          </a:p>
          <a:p xmlns:a="http://schemas.openxmlformats.org/drawingml/2006/main">
            <a:pPr>
              <a:def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일부 이야기와 임무, 역할의 강점</a:t>
            </a:r>
          </a:p>
        </p:txBody>
      </p:sp>
      <p:sp>
        <p:nvSpPr>
          <p:cNvPr id="14" name="rule">
            <a:extLst xmlns:a="http://schemas.openxmlformats.org/drawingml/2006/main">
              <a:ext uri="{FF2B5EF4-FFF2-40B4-BE49-F238E27FC236}">
                <a16:creationId xmlns:a16="http://schemas.microsoft.com/office/drawing/2014/main" id="{BB966F98-E496-4C88-8A24-80E4BB59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일반 장은 이어서 진행한다. 큰 시대 전환에 세계 재시작을 적용한다</a:t>
            </a:r>
          </a:p>
        </p:txBody>
      </p:sp>
    </p:spTree>
    <p:extLst>
      <p:ext uri="{BB962C8B-B14F-4D97-AF65-F5344CB8AC3E}">
        <p14:creationId xmlns:p14="http://schemas.microsoft.com/office/powerpoint/2010/main" val="13984182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1DB98A9-D014-42F0-9CC9-FBFDF06E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플레이를 통해 남는 역사와 지리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94485C1B-2171-4B8B-8348-2F55E46C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08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37E0BF-1C14-4CC7-9393-BA374D05571B}"/>
              </a:ext>
            </a:extLst>
          </p:cNvPr>
          <p:cNvGraphicFramePr/>
          <p:nvPr/>
        </p:nvGraphicFramePr>
        <p:xfrm>
          <a:off xmlns:a="http://schemas.openxmlformats.org/drawingml/2006/main" x="609600" y="16478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334000"/>
                <a:gridCol w="5638800"/>
              </a:tblGrid>
              <a:tr h="7429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0BD6C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게임에서 겪는 일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T w="9525">
                      <a:solidFill>
                        <a:srgbClr val="58726A"/>
                      </a:solidFill>
                      <a:prstDash val="solid"/>
                    </a:lnT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2948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0BD6C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자연스럽게 남길 큰 그림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T w="9525">
                      <a:solidFill>
                        <a:srgbClr val="58726A"/>
                      </a:solidFill>
                      <a:prstDash val="solid"/>
                    </a:lnT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29483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지역을 고르고 탐험한다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강과 산, 해안과 거점의 위치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지역의 도구와 제작법을 쓴다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환경에 따라 다른 생활과 문화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역사적 인물과 큰 사건을 만난다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시대의 순서와 변화의 맥락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시대마다 달라지는 지도를 본다</a:t>
                      </a:r>
                    </a:p>
                  </a:txBody>
                  <a:tcPr marL="152400" marR="152400" marT="133350" marB="133350" anchor="ctr">
                    <a:lnL w="9525">
                      <a:solidFill>
                        <a:srgbClr val="58726A"/>
                      </a:solidFill>
                      <a:prstDash val="solid"/>
                    </a:lnL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6F0E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나라의 등장과 영역의 대략적 변화</a:t>
                      </a:r>
                    </a:p>
                  </a:txBody>
                  <a:tcPr marL="152400" marR="152400" marT="133350" marB="133350" anchor="ctr">
                    <a:lnR w="9525">
                      <a:solidFill>
                        <a:srgbClr val="58726A"/>
                      </a:solidFill>
                      <a:prstDash val="solid"/>
                    </a:lnR>
                    <a:lnB w="9525">
                      <a:solidFill>
                        <a:srgbClr val="58726A"/>
                      </a:solidFill>
                      <a:prstDash val="solid"/>
                    </a:lnB>
                    <a:solidFill>
                      <a:srgbClr val="112D2B"/>
                    </a:solidFill>
                  </a:tcPr>
                </a:tc>
              </a:tr>
            </a:tbl>
          </a:graphicData>
        </a:graphic>
      </p:graphicFrame>
      <p:sp>
        <p:nvSpPr>
          <p:cNvPr id="4" name="accuracy">
            <a:extLst xmlns:a="http://schemas.openxmlformats.org/drawingml/2006/main">
              <a:ext uri="{FF2B5EF4-FFF2-40B4-BE49-F238E27FC236}">
                <a16:creationId xmlns:a16="http://schemas.microsoft.com/office/drawing/2014/main" id="{58D29C25-B3BB-4A26-9D2E-3C2FFBCA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0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0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0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0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0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0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0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0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0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영역은 시기별로 검토하고, 불확실한 경계는 흐린 색이나 점선으로 표시한다</a:t>
            </a:r>
          </a:p>
        </p:txBody>
      </p:sp>
    </p:spTree>
    <p:extLst>
      <p:ext uri="{BB962C8B-B14F-4D97-AF65-F5344CB8AC3E}">
        <p14:creationId xmlns:p14="http://schemas.microsoft.com/office/powerpoint/2010/main" val="8646249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C336A690-CA92-4190-B2A2-86C2304C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비주얼 방향 후보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CCD03A62-5D90-4B5C-8070-30262565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09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0BD3DE-A8EC-4061-827E-D72E01FFB3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20d2151c5b45c2"/>
          <a:stretch xmlns:a="http://schemas.openxmlformats.org/drawingml/2006/main"/>
        </p:blipFill>
        <p:spPr>
          <a:xfrm xmlns:a="http://schemas.openxmlformats.org/drawingml/2006/main">
            <a:off x="609600" y="1933923"/>
            <a:ext cx="3562350" cy="2228153"/>
          </a:xfrm>
          <a:prstGeom xmlns:a="http://schemas.openxmlformats.org/drawingml/2006/main" prst="rect">
            <a:avLst/>
          </a:prstGeom>
        </p:spPr>
      </p:pic>
      <p:sp>
        <p:nvSpPr>
          <p:cNvPr id="4" name="style-0">
            <a:extLst xmlns:a="http://schemas.openxmlformats.org/drawingml/2006/main">
              <a:ext uri="{FF2B5EF4-FFF2-40B4-BE49-F238E27FC236}">
                <a16:creationId xmlns:a16="http://schemas.microsoft.com/office/drawing/2014/main" id="{72841524-28CA-4C75-A672-E1795A718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3562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1안  아기자기한 2.5D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BA502D-78CE-42BB-811F-EFCA0ED9A4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be6b7a36b4669"/>
          <a:stretch xmlns:a="http://schemas.openxmlformats.org/drawingml/2006/main"/>
        </p:blipFill>
        <p:spPr>
          <a:xfrm xmlns:a="http://schemas.openxmlformats.org/drawingml/2006/main">
            <a:off x="4314825" y="1933923"/>
            <a:ext cx="3562350" cy="2228153"/>
          </a:xfrm>
          <a:prstGeom xmlns:a="http://schemas.openxmlformats.org/drawingml/2006/main" prst="rect">
            <a:avLst/>
          </a:prstGeom>
        </p:spPr>
      </p:pic>
      <p:sp>
        <p:nvSpPr>
          <p:cNvPr id="6" name="style-1">
            <a:extLst xmlns:a="http://schemas.openxmlformats.org/drawingml/2006/main">
              <a:ext uri="{FF2B5EF4-FFF2-40B4-BE49-F238E27FC236}">
                <a16:creationId xmlns:a16="http://schemas.microsoft.com/office/drawing/2014/main" id="{C3F7D8BC-C50D-4121-8708-0E587CD4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524375"/>
            <a:ext cx="3562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2안  생존 액션 RPG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F147F4-CE4A-468C-B77C-78B7EE320F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828dff5c554d18"/>
          <a:stretch xmlns:a="http://schemas.openxmlformats.org/drawingml/2006/main"/>
        </p:blipFill>
        <p:spPr>
          <a:xfrm xmlns:a="http://schemas.openxmlformats.org/drawingml/2006/main">
            <a:off x="8020050" y="1933923"/>
            <a:ext cx="3562350" cy="2228153"/>
          </a:xfrm>
          <a:prstGeom xmlns:a="http://schemas.openxmlformats.org/drawingml/2006/main" prst="rect">
            <a:avLst/>
          </a:prstGeom>
        </p:spPr>
      </p:pic>
      <p:sp>
        <p:nvSpPr>
          <p:cNvPr id="8" name="style-2">
            <a:extLst xmlns:a="http://schemas.openxmlformats.org/drawingml/2006/main">
              <a:ext uri="{FF2B5EF4-FFF2-40B4-BE49-F238E27FC236}">
                <a16:creationId xmlns:a16="http://schemas.microsoft.com/office/drawing/2014/main" id="{9B188327-2745-42EC-BB00-6AD50895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24375"/>
            <a:ext cx="3562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3안  도트 RPG</a:t>
            </a:r>
          </a:p>
        </p:txBody>
      </p:sp>
      <p:sp>
        <p:nvSpPr>
          <p:cNvPr id="9" name="unselected">
            <a:extLst xmlns:a="http://schemas.openxmlformats.org/drawingml/2006/main">
              <a:ext uri="{FF2B5EF4-FFF2-40B4-BE49-F238E27FC236}">
                <a16:creationId xmlns:a16="http://schemas.microsoft.com/office/drawing/2014/main" id="{D66B299B-6225-454D-942A-38B6CE5B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87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87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87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87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87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87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87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87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87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75" b="0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최종 스타일은 미선택이다. 사냥 대상과 전리품, 다음 성장 목표가 먼저 보이게 한다</a:t>
            </a:r>
          </a:p>
        </p:txBody>
      </p:sp>
    </p:spTree>
    <p:extLst>
      <p:ext uri="{BB962C8B-B14F-4D97-AF65-F5344CB8AC3E}">
        <p14:creationId xmlns:p14="http://schemas.microsoft.com/office/powerpoint/2010/main" val="15026020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2D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2E21DEB-E772-47E1-AFBF-0B62D8DB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300" b="1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현재 합의와 다음 디자인</a:t>
            </a:r>
          </a:p>
        </p:txBody>
      </p:sp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8EB745E1-4C9C-4B86-A9FA-07255F0B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0">
                <a:solidFill>
                  <a:srgbClr val="B9C9BF"/>
                </a:solidFill>
                <a:latin typeface="Noto Sans CJK KR"/>
                <a:ea typeface="Noto Sans CJK KR"/>
                <a:cs typeface="Noto Sans CJK KR"/>
              </a:rPr>
              <a:t>10</a:t>
            </a:r>
          </a:p>
        </p:txBody>
      </p:sp>
      <p:sp>
        <p:nvSpPr>
          <p:cNvPr id="3" name="agreed-title">
            <a:extLst xmlns:a="http://schemas.openxmlformats.org/drawingml/2006/main">
              <a:ext uri="{FF2B5EF4-FFF2-40B4-BE49-F238E27FC236}">
                <a16:creationId xmlns:a16="http://schemas.microsoft.com/office/drawing/2014/main" id="{5215F318-CBEF-40A8-8164-C93DD421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합의한 방향</a:t>
            </a:r>
          </a:p>
        </p:txBody>
      </p:sp>
      <p:sp>
        <p:nvSpPr>
          <p:cNvPr id="4" name="agreed">
            <a:extLst xmlns:a="http://schemas.openxmlformats.org/drawingml/2006/main">
              <a:ext uri="{FF2B5EF4-FFF2-40B4-BE49-F238E27FC236}">
                <a16:creationId xmlns:a16="http://schemas.microsoft.com/office/drawing/2014/main" id="{457ED0E7-D352-4541-9057-86E7011A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5048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재미를 우선하는 성장과 생존</a:t>
            </a:r>
          </a:p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세 가지 지역 시작 경로</a:t>
            </a:r>
          </a:p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변화하는 지도와 공통 사건</a:t>
            </a:r>
          </a:p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주요 시대 전환과 성과 계승</a:t>
            </a:r>
          </a:p>
        </p:txBody>
      </p:sp>
      <p:sp>
        <p:nvSpPr>
          <p:cNvPr id="5" name="next-title">
            <a:extLst xmlns:a="http://schemas.openxmlformats.org/drawingml/2006/main">
              <a:ext uri="{FF2B5EF4-FFF2-40B4-BE49-F238E27FC236}">
                <a16:creationId xmlns:a16="http://schemas.microsoft.com/office/drawing/2014/main" id="{D7175356-A310-4973-9A98-40963A80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619250"/>
            <a:ext cx="504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325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다음에 정할 내용</a:t>
            </a:r>
          </a:p>
        </p:txBody>
      </p:sp>
      <p:sp>
        <p:nvSpPr>
          <p:cNvPr id="6" name="next">
            <a:extLst xmlns:a="http://schemas.openxmlformats.org/drawingml/2006/main">
              <a:ext uri="{FF2B5EF4-FFF2-40B4-BE49-F238E27FC236}">
                <a16:creationId xmlns:a16="http://schemas.microsoft.com/office/drawing/2014/main" id="{B813E736-E139-434A-9482-41265A3E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81250"/>
            <a:ext cx="5048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정확한 시작 지역과 시점</a:t>
            </a:r>
          </a:p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역할, 계승 규칙과 장 목록</a:t>
            </a:r>
          </a:p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아트 스타일과 전투의 느낌</a:t>
            </a:r>
          </a:p>
          <a:p xmlns:a="http://schemas.openxmlformats.org/drawingml/2006/main">
            <a:pPr>
              <a:def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10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엔진과 저장, 서버 구성</a:t>
            </a:r>
          </a:p>
        </p:txBody>
      </p:sp>
      <p:sp>
        <p:nvSpPr>
          <p:cNvPr id="7" name="figma-next">
            <a:extLst xmlns:a="http://schemas.openxmlformats.org/drawingml/2006/main">
              <a:ext uri="{FF2B5EF4-FFF2-40B4-BE49-F238E27FC236}">
                <a16:creationId xmlns:a16="http://schemas.microsoft.com/office/drawing/2014/main" id="{3C972D98-9BB7-4DF2-9E84-2705AA8E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21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21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21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21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21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21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21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21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21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100" b="1">
                <a:solidFill>
                  <a:srgbClr val="F0BD6C"/>
                </a:solidFill>
                <a:latin typeface="Noto Sans CJK KR"/>
                <a:ea typeface="Noto Sans CJK KR"/>
                <a:cs typeface="Noto Sans CJK KR"/>
              </a:rPr>
              <a:t>다음 Figma 범위</a:t>
            </a:r>
          </a:p>
        </p:txBody>
      </p:sp>
      <p:sp>
        <p:nvSpPr>
          <p:cNvPr id="8" name="figma-scope">
            <a:extLst xmlns:a="http://schemas.openxmlformats.org/drawingml/2006/main">
              <a:ext uri="{FF2B5EF4-FFF2-40B4-BE49-F238E27FC236}">
                <a16:creationId xmlns:a16="http://schemas.microsoft.com/office/drawing/2014/main" id="{DDEBD6F5-514F-4F66-BD7F-B2786787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defPPr>
            <a:lvl1pPr>
              <a:defRPr sz="19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1pPr>
            <a:lvl2pPr>
              <a:defRPr sz="19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2pPr>
            <a:lvl3pPr>
              <a:defRPr sz="19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3pPr>
            <a:lvl4pPr>
              <a:defRPr sz="19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4pPr>
            <a:lvl5pPr>
              <a:defRPr sz="19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5pPr>
            <a:lvl6pPr>
              <a:defRPr sz="19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6pPr>
            <a:lvl7pPr>
              <a:defRPr sz="19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7pPr>
            <a:lvl8pPr>
              <a:defRPr sz="19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8pPr>
            <a:lvl9pPr>
              <a:defRPr sz="19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950" b="0">
                <a:solidFill>
                  <a:srgbClr val="F6F0E3"/>
                </a:solidFill>
                <a:latin typeface="Noto Sans CJK KR"/>
                <a:ea typeface="Noto Sans CJK KR"/>
                <a:cs typeface="Noto Sans CJK KR"/>
              </a:rPr>
              <a:t>전체 지도와 지역 선택, 확대 흐름, 재미 중심 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16682634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2026-10-28T10:18:02.2080000Z</dcterms:created>
  <dcterms:modified xsi:type="dcterms:W3CDTF">2026-10-28T10:18:02.2080000Z</dcterms:modified>
</coreProperties>
</file>